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5" r:id="rId4"/>
  </p:sldMasterIdLst>
  <p:notesMasterIdLst>
    <p:notesMasterId r:id="rId9"/>
  </p:notesMasterIdLst>
  <p:handoutMasterIdLst>
    <p:handoutMasterId r:id="rId10"/>
  </p:handoutMasterIdLst>
  <p:sldIdLst>
    <p:sldId id="287" r:id="rId5"/>
    <p:sldId id="3232" r:id="rId6"/>
    <p:sldId id="3228" r:id="rId7"/>
    <p:sldId id="1401" r:id="rId8"/>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108"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D69B"/>
    <a:srgbClr val="B58D2B"/>
    <a:srgbClr val="F9F8E4"/>
    <a:srgbClr val="FFCC99"/>
    <a:srgbClr val="FF3300"/>
    <a:srgbClr val="FEC2CC"/>
    <a:srgbClr val="910C07"/>
    <a:srgbClr val="D45041"/>
    <a:srgbClr val="83D3D4"/>
    <a:srgbClr val="FFE0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718F7A-12E4-4226-ADF5-2FDB9C89475F}" v="1" dt="2025-06-11T11:05:33.3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50" d="100"/>
          <a:sy n="150" d="100"/>
        </p:scale>
        <p:origin x="-848" y="-111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5079" tIns="47540" rIns="95079" bIns="47540" rtlCol="0"/>
          <a:lstStyle>
            <a:lvl1pPr algn="l">
              <a:defRPr sz="1200"/>
            </a:lvl1pPr>
          </a:lstStyle>
          <a:p>
            <a:endParaRPr lang="en-US"/>
          </a:p>
        </p:txBody>
      </p:sp>
      <p:sp>
        <p:nvSpPr>
          <p:cNvPr id="3" name="Date Placeholder 2"/>
          <p:cNvSpPr>
            <a:spLocks noGrp="1"/>
          </p:cNvSpPr>
          <p:nvPr>
            <p:ph type="dt" sz="quarter" idx="1"/>
          </p:nvPr>
        </p:nvSpPr>
        <p:spPr>
          <a:xfrm>
            <a:off x="4021295" y="1"/>
            <a:ext cx="3076363" cy="511730"/>
          </a:xfrm>
          <a:prstGeom prst="rect">
            <a:avLst/>
          </a:prstGeom>
        </p:spPr>
        <p:txBody>
          <a:bodyPr vert="horz" lIns="95079" tIns="47540" rIns="95079" bIns="47540" rtlCol="0"/>
          <a:lstStyle>
            <a:lvl1pPr algn="r">
              <a:defRPr sz="1200"/>
            </a:lvl1pPr>
          </a:lstStyle>
          <a:p>
            <a:fld id="{FAF220F9-1E3F-47DD-93FE-CF5E1C67C9CE}" type="datetimeFigureOut">
              <a:rPr lang="en-US" smtClean="0"/>
              <a:t>11/19/2025</a:t>
            </a:fld>
            <a:endParaRPr lang="en-US"/>
          </a:p>
        </p:txBody>
      </p:sp>
      <p:sp>
        <p:nvSpPr>
          <p:cNvPr id="4" name="Footer Placeholder 3"/>
          <p:cNvSpPr>
            <a:spLocks noGrp="1"/>
          </p:cNvSpPr>
          <p:nvPr>
            <p:ph type="ftr" sz="quarter" idx="2"/>
          </p:nvPr>
        </p:nvSpPr>
        <p:spPr>
          <a:xfrm>
            <a:off x="1" y="9721106"/>
            <a:ext cx="3076363" cy="511730"/>
          </a:xfrm>
          <a:prstGeom prst="rect">
            <a:avLst/>
          </a:prstGeom>
        </p:spPr>
        <p:txBody>
          <a:bodyPr vert="horz" lIns="95079" tIns="47540" rIns="95079" bIns="47540" rtlCol="0" anchor="b"/>
          <a:lstStyle>
            <a:lvl1pPr algn="l">
              <a:defRPr sz="1200"/>
            </a:lvl1pPr>
          </a:lstStyle>
          <a:p>
            <a:endParaRPr lang="en-US"/>
          </a:p>
        </p:txBody>
      </p:sp>
      <p:sp>
        <p:nvSpPr>
          <p:cNvPr id="5" name="Slide Number Placeholder 4"/>
          <p:cNvSpPr>
            <a:spLocks noGrp="1"/>
          </p:cNvSpPr>
          <p:nvPr>
            <p:ph type="sldNum" sz="quarter" idx="3"/>
          </p:nvPr>
        </p:nvSpPr>
        <p:spPr>
          <a:xfrm>
            <a:off x="4021295" y="9721106"/>
            <a:ext cx="3076363" cy="511730"/>
          </a:xfrm>
          <a:prstGeom prst="rect">
            <a:avLst/>
          </a:prstGeom>
        </p:spPr>
        <p:txBody>
          <a:bodyPr vert="horz" lIns="95079" tIns="47540" rIns="95079" bIns="47540" rtlCol="0" anchor="b"/>
          <a:lstStyle>
            <a:lvl1pPr algn="r">
              <a:defRPr sz="1200"/>
            </a:lvl1pPr>
          </a:lstStyle>
          <a:p>
            <a:fld id="{8AE69B04-64D2-48CB-B586-690E78A549FF}" type="slidenum">
              <a:rPr lang="en-US" smtClean="0"/>
              <a:t>‹#›</a:t>
            </a:fld>
            <a:endParaRPr lang="en-US"/>
          </a:p>
        </p:txBody>
      </p:sp>
    </p:spTree>
    <p:extLst>
      <p:ext uri="{BB962C8B-B14F-4D97-AF65-F5344CB8AC3E}">
        <p14:creationId xmlns:p14="http://schemas.microsoft.com/office/powerpoint/2010/main" val="16213396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5079" tIns="47540" rIns="95079" bIns="47540" rtlCol="0"/>
          <a:lstStyle>
            <a:lvl1pPr algn="l">
              <a:defRPr sz="1200"/>
            </a:lvl1pPr>
          </a:lstStyle>
          <a:p>
            <a:endParaRPr lang="en-US"/>
          </a:p>
        </p:txBody>
      </p:sp>
      <p:sp>
        <p:nvSpPr>
          <p:cNvPr id="3" name="Date Placeholder 2"/>
          <p:cNvSpPr>
            <a:spLocks noGrp="1"/>
          </p:cNvSpPr>
          <p:nvPr>
            <p:ph type="dt" idx="1"/>
          </p:nvPr>
        </p:nvSpPr>
        <p:spPr>
          <a:xfrm>
            <a:off x="4021295" y="1"/>
            <a:ext cx="3076363" cy="511730"/>
          </a:xfrm>
          <a:prstGeom prst="rect">
            <a:avLst/>
          </a:prstGeom>
        </p:spPr>
        <p:txBody>
          <a:bodyPr vert="horz" lIns="95079" tIns="47540" rIns="95079" bIns="47540" rtlCol="0"/>
          <a:lstStyle>
            <a:lvl1pPr algn="r">
              <a:defRPr sz="1200"/>
            </a:lvl1pPr>
          </a:lstStyle>
          <a:p>
            <a:fld id="{73A9365E-A291-48EA-940D-A3115042955F}" type="datetimeFigureOut">
              <a:rPr lang="en-US" smtClean="0"/>
              <a:t>11/19/2025</a:t>
            </a:fld>
            <a:endParaRPr lang="en-US"/>
          </a:p>
        </p:txBody>
      </p:sp>
      <p:sp>
        <p:nvSpPr>
          <p:cNvPr id="4" name="Slide Image Placeholder 3"/>
          <p:cNvSpPr>
            <a:spLocks noGrp="1" noRot="1" noChangeAspect="1"/>
          </p:cNvSpPr>
          <p:nvPr>
            <p:ph type="sldImg" idx="2"/>
          </p:nvPr>
        </p:nvSpPr>
        <p:spPr>
          <a:xfrm>
            <a:off x="989013" y="766763"/>
            <a:ext cx="5121275" cy="3840162"/>
          </a:xfrm>
          <a:prstGeom prst="rect">
            <a:avLst/>
          </a:prstGeom>
          <a:noFill/>
          <a:ln w="12700">
            <a:solidFill>
              <a:prstClr val="black"/>
            </a:solidFill>
          </a:ln>
        </p:spPr>
        <p:txBody>
          <a:bodyPr vert="horz" lIns="95079" tIns="47540" rIns="95079" bIns="47540" rtlCol="0" anchor="ctr"/>
          <a:lstStyle/>
          <a:p>
            <a:endParaRPr lang="en-US"/>
          </a:p>
        </p:txBody>
      </p:sp>
      <p:sp>
        <p:nvSpPr>
          <p:cNvPr id="5" name="Notes Placeholder 4"/>
          <p:cNvSpPr>
            <a:spLocks noGrp="1"/>
          </p:cNvSpPr>
          <p:nvPr>
            <p:ph type="body" sz="quarter" idx="3"/>
          </p:nvPr>
        </p:nvSpPr>
        <p:spPr>
          <a:xfrm>
            <a:off x="709931" y="4861441"/>
            <a:ext cx="5679440" cy="4605575"/>
          </a:xfrm>
          <a:prstGeom prst="rect">
            <a:avLst/>
          </a:prstGeom>
        </p:spPr>
        <p:txBody>
          <a:bodyPr vert="horz" lIns="95079" tIns="47540" rIns="95079" bIns="4754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721106"/>
            <a:ext cx="3076363" cy="511730"/>
          </a:xfrm>
          <a:prstGeom prst="rect">
            <a:avLst/>
          </a:prstGeom>
        </p:spPr>
        <p:txBody>
          <a:bodyPr vert="horz" lIns="95079" tIns="47540" rIns="95079" bIns="47540" rtlCol="0" anchor="b"/>
          <a:lstStyle>
            <a:lvl1pPr algn="l">
              <a:defRPr sz="1200"/>
            </a:lvl1pPr>
          </a:lstStyle>
          <a:p>
            <a:endParaRPr lang="en-US"/>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5079" tIns="47540" rIns="95079" bIns="47540" rtlCol="0" anchor="b"/>
          <a:lstStyle>
            <a:lvl1pPr algn="r">
              <a:defRPr sz="1200"/>
            </a:lvl1pPr>
          </a:lstStyle>
          <a:p>
            <a:fld id="{F24F420F-736D-4E9B-84B9-0459127E946B}" type="slidenum">
              <a:rPr lang="en-US" smtClean="0"/>
              <a:t>‹#›</a:t>
            </a:fld>
            <a:endParaRPr lang="en-US"/>
          </a:p>
        </p:txBody>
      </p:sp>
    </p:spTree>
    <p:extLst>
      <p:ext uri="{BB962C8B-B14F-4D97-AF65-F5344CB8AC3E}">
        <p14:creationId xmlns:p14="http://schemas.microsoft.com/office/powerpoint/2010/main" val="2150834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911517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89013" y="766763"/>
            <a:ext cx="5121275" cy="3840162"/>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3977687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3"/>
            <a:ext cx="2057400" cy="365125"/>
          </a:xfrm>
          <a:prstGeom prst="rect">
            <a:avLst/>
          </a:prstGeom>
        </p:spPr>
        <p:txBody>
          <a:bodyPr/>
          <a:lstStyle/>
          <a:p>
            <a:fld id="{58A1892D-1ACB-416C-9EE5-D9FCA6424D78}" type="datetimeFigureOut">
              <a:rPr lang="en-US" smtClean="0"/>
              <a:t>11/19/2025</a:t>
            </a:fld>
            <a:endParaRPr lang="en-US"/>
          </a:p>
        </p:txBody>
      </p:sp>
      <p:sp>
        <p:nvSpPr>
          <p:cNvPr id="5" name="Footer Placeholder 4"/>
          <p:cNvSpPr>
            <a:spLocks noGrp="1"/>
          </p:cNvSpPr>
          <p:nvPr>
            <p:ph type="ftr" sz="quarter" idx="11"/>
          </p:nvPr>
        </p:nvSpPr>
        <p:spPr>
          <a:xfrm>
            <a:off x="3028950" y="6356353"/>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3"/>
            <a:ext cx="2057400" cy="365125"/>
          </a:xfrm>
          <a:prstGeom prst="rect">
            <a:avLst/>
          </a:prstGeom>
        </p:spPr>
        <p:txBody>
          <a:bodyPr/>
          <a:lstStyle/>
          <a:p>
            <a:fld id="{7AC4D126-D812-474A-A067-D151A8954BC1}" type="slidenum">
              <a:rPr lang="en-US" smtClean="0"/>
              <a:t>‹#›</a:t>
            </a:fld>
            <a:endParaRPr lang="en-US"/>
          </a:p>
        </p:txBody>
      </p:sp>
      <p:sp>
        <p:nvSpPr>
          <p:cNvPr id="9" name="TextBox 8">
            <a:extLst>
              <a:ext uri="{FF2B5EF4-FFF2-40B4-BE49-F238E27FC236}">
                <a16:creationId xmlns:a16="http://schemas.microsoft.com/office/drawing/2014/main" id="{C3C108F0-3A52-4081-B90F-7C5CB6EB3874}"/>
              </a:ext>
            </a:extLst>
          </p:cNvPr>
          <p:cNvSpPr txBox="1"/>
          <p:nvPr userDrawn="1"/>
        </p:nvSpPr>
        <p:spPr>
          <a:xfrm>
            <a:off x="422670" y="6556334"/>
            <a:ext cx="4016376" cy="201260"/>
          </a:xfrm>
          <a:prstGeom prst="rect">
            <a:avLst/>
          </a:prstGeom>
          <a:noFill/>
        </p:spPr>
        <p:txBody>
          <a:bodyPr wrap="square" lIns="0" tIns="0" rIns="0" bIns="0" rtlCol="0">
            <a:noAutofit/>
          </a:bodyPr>
          <a:lstStyle/>
          <a:p>
            <a:pPr>
              <a:spcBef>
                <a:spcPts val="600"/>
              </a:spcBef>
              <a:buSzPct val="100000"/>
              <a:buFont typeface="Arial"/>
              <a:buNone/>
            </a:pPr>
            <a:r>
              <a:rPr lang="fr-FR" sz="650">
                <a:solidFill>
                  <a:schemeClr val="tx1"/>
                </a:solidFill>
                <a:latin typeface="+mj-lt"/>
                <a:ea typeface="Verdana" panose="020B0604030504040204" pitchFamily="34" charset="0"/>
                <a:cs typeface="Verdana" panose="020B0604030504040204" pitchFamily="34" charset="0"/>
              </a:rPr>
              <a:t>© </a:t>
            </a:r>
            <a:r>
              <a:rPr lang="fr-FR" sz="800">
                <a:solidFill>
                  <a:schemeClr val="tx1"/>
                </a:solidFill>
                <a:latin typeface="+mj-lt"/>
                <a:ea typeface="Verdana" panose="020B0604030504040204" pitchFamily="34" charset="0"/>
                <a:cs typeface="Verdana" panose="020B0604030504040204" pitchFamily="34" charset="0"/>
              </a:rPr>
              <a:t>2018 Acies Consulting LLP</a:t>
            </a:r>
            <a:br>
              <a:rPr lang="en-US" sz="800">
                <a:solidFill>
                  <a:schemeClr val="tx1"/>
                </a:solidFill>
                <a:latin typeface="+mj-lt"/>
                <a:ea typeface="Verdana" panose="020B0604030504040204" pitchFamily="34" charset="0"/>
                <a:cs typeface="Verdana" panose="020B0604030504040204" pitchFamily="34" charset="0"/>
              </a:rPr>
            </a:br>
            <a:r>
              <a:rPr lang="en-US" sz="800">
                <a:solidFill>
                  <a:schemeClr val="tx1"/>
                </a:solidFill>
                <a:latin typeface="+mj-lt"/>
                <a:ea typeface="Verdana" panose="020B0604030504040204" pitchFamily="34" charset="0"/>
                <a:cs typeface="Verdana" panose="020B0604030504040204" pitchFamily="34" charset="0"/>
              </a:rPr>
              <a:t>For private circulation only</a:t>
            </a:r>
          </a:p>
        </p:txBody>
      </p:sp>
      <p:sp>
        <p:nvSpPr>
          <p:cNvPr id="10" name="TextBox 9">
            <a:extLst>
              <a:ext uri="{FF2B5EF4-FFF2-40B4-BE49-F238E27FC236}">
                <a16:creationId xmlns:a16="http://schemas.microsoft.com/office/drawing/2014/main" id="{F43A5225-0E1D-4F61-9830-2A57DC0EF4DC}"/>
              </a:ext>
            </a:extLst>
          </p:cNvPr>
          <p:cNvSpPr txBox="1"/>
          <p:nvPr userDrawn="1"/>
        </p:nvSpPr>
        <p:spPr>
          <a:xfrm>
            <a:off x="8536784" y="6477000"/>
            <a:ext cx="230981" cy="97078"/>
          </a:xfrm>
          <a:prstGeom prst="rect">
            <a:avLst/>
          </a:prstGeom>
          <a:noFill/>
        </p:spPr>
        <p:txBody>
          <a:bodyPr wrap="square" lIns="0" tIns="0" rIns="0" bIns="0" rtlCol="0">
            <a:spAutoFit/>
          </a:bodyPr>
          <a:lstStyle/>
          <a:p>
            <a:pPr algn="r" fontAlgn="auto">
              <a:spcBef>
                <a:spcPts val="582"/>
              </a:spcBef>
              <a:spcAft>
                <a:spcPts val="0"/>
              </a:spcAft>
              <a:buSzPct val="100000"/>
              <a:buFont typeface="Arial"/>
              <a:buNone/>
            </a:pPr>
            <a:fld id="{C58DF478-B544-4ED8-9ED4-6A2648E2D233}" type="slidenum">
              <a:rPr lang="en-US" sz="631" smtClean="0">
                <a:solidFill>
                  <a:schemeClr val="tx1"/>
                </a:solidFill>
                <a:latin typeface="+mj-lt"/>
                <a:cs typeface="Verdana" panose="020B0604030504040204" pitchFamily="34" charset="0"/>
              </a:rPr>
              <a:pPr algn="r" fontAlgn="auto">
                <a:spcBef>
                  <a:spcPts val="582"/>
                </a:spcBef>
                <a:spcAft>
                  <a:spcPts val="0"/>
                </a:spcAft>
                <a:buSzPct val="100000"/>
                <a:buFont typeface="Arial"/>
                <a:buNone/>
              </a:pPr>
              <a:t>‹#›</a:t>
            </a:fld>
            <a:endParaRPr lang="en-US" sz="631">
              <a:solidFill>
                <a:schemeClr val="tx1"/>
              </a:solidFill>
              <a:latin typeface="+mj-lt"/>
              <a:cs typeface="Verdana" panose="020B0604030504040204" pitchFamily="34" charset="0"/>
            </a:endParaRPr>
          </a:p>
        </p:txBody>
      </p:sp>
    </p:spTree>
    <p:extLst>
      <p:ext uri="{BB962C8B-B14F-4D97-AF65-F5344CB8AC3E}">
        <p14:creationId xmlns:p14="http://schemas.microsoft.com/office/powerpoint/2010/main" val="492394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0188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vider - Deloitte dark blu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76238" y="1705671"/>
            <a:ext cx="7905750" cy="1592403"/>
          </a:xfrm>
        </p:spPr>
        <p:txBody>
          <a:bodyPr anchor="b"/>
          <a:lstStyle>
            <a:lvl1pPr>
              <a:lnSpc>
                <a:spcPct val="95000"/>
              </a:lnSpc>
              <a:defRPr sz="37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376238" y="3429000"/>
            <a:ext cx="7905750" cy="1566532"/>
          </a:xfrm>
        </p:spPr>
        <p:txBody>
          <a:bodyPr lIns="0" tIns="0" rIns="0" bIns="0">
            <a:noAutofit/>
          </a:bodyPr>
          <a:lstStyle>
            <a:lvl1pPr marL="0" indent="0">
              <a:lnSpc>
                <a:spcPct val="95000"/>
              </a:lnSpc>
              <a:spcAft>
                <a:spcPts val="0"/>
              </a:spcAft>
              <a:buNone/>
              <a:defRPr sz="3737">
                <a:solidFill>
                  <a:schemeClr val="bg1"/>
                </a:solidFill>
              </a:defRPr>
            </a:lvl1pPr>
            <a:lvl2pPr marL="443756" indent="0">
              <a:buNone/>
              <a:defRPr sz="1941">
                <a:solidFill>
                  <a:schemeClr val="tx1">
                    <a:tint val="75000"/>
                  </a:schemeClr>
                </a:solidFill>
              </a:defRPr>
            </a:lvl2pPr>
            <a:lvl3pPr marL="887513" indent="0">
              <a:buNone/>
              <a:defRPr sz="1747">
                <a:solidFill>
                  <a:schemeClr val="tx1">
                    <a:tint val="75000"/>
                  </a:schemeClr>
                </a:solidFill>
              </a:defRPr>
            </a:lvl3pPr>
            <a:lvl4pPr marL="1331270" indent="0">
              <a:buNone/>
              <a:defRPr sz="1553">
                <a:solidFill>
                  <a:schemeClr val="tx1">
                    <a:tint val="75000"/>
                  </a:schemeClr>
                </a:solidFill>
              </a:defRPr>
            </a:lvl4pPr>
            <a:lvl5pPr marL="1775027" indent="0">
              <a:buNone/>
              <a:defRPr sz="1553">
                <a:solidFill>
                  <a:schemeClr val="tx1">
                    <a:tint val="75000"/>
                  </a:schemeClr>
                </a:solidFill>
              </a:defRPr>
            </a:lvl5pPr>
            <a:lvl6pPr marL="2218783" indent="0">
              <a:buNone/>
              <a:defRPr sz="1553">
                <a:solidFill>
                  <a:schemeClr val="tx1">
                    <a:tint val="75000"/>
                  </a:schemeClr>
                </a:solidFill>
              </a:defRPr>
            </a:lvl6pPr>
            <a:lvl7pPr marL="2662540" indent="0">
              <a:buNone/>
              <a:defRPr sz="1553">
                <a:solidFill>
                  <a:schemeClr val="tx1">
                    <a:tint val="75000"/>
                  </a:schemeClr>
                </a:solidFill>
              </a:defRPr>
            </a:lvl7pPr>
            <a:lvl8pPr marL="3106297" indent="0">
              <a:buNone/>
              <a:defRPr sz="1553">
                <a:solidFill>
                  <a:schemeClr val="tx1">
                    <a:tint val="75000"/>
                  </a:schemeClr>
                </a:solidFill>
              </a:defRPr>
            </a:lvl8pPr>
            <a:lvl9pPr marL="3550054" indent="0">
              <a:buNone/>
              <a:defRPr sz="1553">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8536784" y="6477000"/>
            <a:ext cx="230981" cy="97078"/>
          </a:xfrm>
          <a:prstGeom prst="rect">
            <a:avLst/>
          </a:prstGeom>
          <a:noFill/>
        </p:spPr>
        <p:txBody>
          <a:bodyPr wrap="square" lIns="0" tIns="0" rIns="0" bIns="0" rtlCol="0">
            <a:spAutoFit/>
          </a:bodyPr>
          <a:lstStyle/>
          <a:p>
            <a:pPr algn="r" fontAlgn="auto">
              <a:spcBef>
                <a:spcPts val="582"/>
              </a:spcBef>
              <a:spcAft>
                <a:spcPts val="0"/>
              </a:spcAft>
              <a:buSzPct val="100000"/>
              <a:buFont typeface="Arial"/>
              <a:buNone/>
            </a:pPr>
            <a:fld id="{C58DF478-B544-4ED8-9ED4-6A2648E2D233}" type="slidenum">
              <a:rPr lang="en-US" sz="631" smtClean="0">
                <a:solidFill>
                  <a:prstClr val="white"/>
                </a:solidFill>
                <a:latin typeface="+mj-lt"/>
                <a:cs typeface="Verdana" panose="020B0604030504040204" pitchFamily="34" charset="0"/>
              </a:rPr>
              <a:pPr algn="r" fontAlgn="auto">
                <a:spcBef>
                  <a:spcPts val="582"/>
                </a:spcBef>
                <a:spcAft>
                  <a:spcPts val="0"/>
                </a:spcAft>
                <a:buSzPct val="100000"/>
                <a:buFont typeface="Arial"/>
                <a:buNone/>
              </a:pPr>
              <a:t>‹#›</a:t>
            </a:fld>
            <a:endParaRPr lang="en-US" sz="631">
              <a:solidFill>
                <a:prstClr val="white"/>
              </a:solidFill>
              <a:latin typeface="+mj-lt"/>
              <a:cs typeface="Verdana" panose="020B0604030504040204" pitchFamily="34" charset="0"/>
            </a:endParaRPr>
          </a:p>
        </p:txBody>
      </p:sp>
      <p:sp>
        <p:nvSpPr>
          <p:cNvPr id="7" name="TextBox 6">
            <a:extLst>
              <a:ext uri="{FF2B5EF4-FFF2-40B4-BE49-F238E27FC236}">
                <a16:creationId xmlns:a16="http://schemas.microsoft.com/office/drawing/2014/main" id="{4CE106AD-1812-4267-B661-B0FC91FC7A6A}"/>
              </a:ext>
            </a:extLst>
          </p:cNvPr>
          <p:cNvSpPr txBox="1"/>
          <p:nvPr userDrawn="1"/>
        </p:nvSpPr>
        <p:spPr>
          <a:xfrm>
            <a:off x="422670" y="6556334"/>
            <a:ext cx="4016376" cy="201260"/>
          </a:xfrm>
          <a:prstGeom prst="rect">
            <a:avLst/>
          </a:prstGeom>
          <a:noFill/>
        </p:spPr>
        <p:txBody>
          <a:bodyPr wrap="square" lIns="0" tIns="0" rIns="0" bIns="0" rtlCol="0">
            <a:noAutofit/>
          </a:bodyPr>
          <a:lstStyle/>
          <a:p>
            <a:pPr>
              <a:spcBef>
                <a:spcPts val="600"/>
              </a:spcBef>
              <a:buSzPct val="100000"/>
              <a:buFont typeface="Arial"/>
              <a:buNone/>
            </a:pPr>
            <a:r>
              <a:rPr lang="fr-FR" sz="650">
                <a:solidFill>
                  <a:schemeClr val="bg1"/>
                </a:solidFill>
                <a:latin typeface="+mj-lt"/>
                <a:ea typeface="Verdana" panose="020B0604030504040204" pitchFamily="34" charset="0"/>
                <a:cs typeface="Verdana" panose="020B0604030504040204" pitchFamily="34" charset="0"/>
              </a:rPr>
              <a:t>© </a:t>
            </a:r>
            <a:r>
              <a:rPr lang="fr-FR" sz="800">
                <a:solidFill>
                  <a:schemeClr val="bg1"/>
                </a:solidFill>
                <a:latin typeface="+mj-lt"/>
                <a:ea typeface="Verdana" panose="020B0604030504040204" pitchFamily="34" charset="0"/>
                <a:cs typeface="Verdana" panose="020B0604030504040204" pitchFamily="34" charset="0"/>
              </a:rPr>
              <a:t>2018 Acies Consulting LLP</a:t>
            </a:r>
            <a:br>
              <a:rPr lang="en-US" sz="800">
                <a:solidFill>
                  <a:schemeClr val="bg1"/>
                </a:solidFill>
                <a:latin typeface="+mj-lt"/>
                <a:ea typeface="Verdana" panose="020B0604030504040204" pitchFamily="34" charset="0"/>
                <a:cs typeface="Verdana" panose="020B0604030504040204" pitchFamily="34" charset="0"/>
              </a:rPr>
            </a:br>
            <a:r>
              <a:rPr lang="en-US" sz="800">
                <a:solidFill>
                  <a:schemeClr val="bg1"/>
                </a:solidFill>
                <a:latin typeface="+mj-lt"/>
                <a:ea typeface="Verdana" panose="020B0604030504040204" pitchFamily="34" charset="0"/>
                <a:cs typeface="Verdana" panose="020B0604030504040204" pitchFamily="34" charset="0"/>
              </a:rPr>
              <a:t>For private circulation only</a:t>
            </a:r>
          </a:p>
        </p:txBody>
      </p:sp>
    </p:spTree>
    <p:extLst>
      <p:ext uri="{BB962C8B-B14F-4D97-AF65-F5344CB8AC3E}">
        <p14:creationId xmlns:p14="http://schemas.microsoft.com/office/powerpoint/2010/main" val="356468894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81632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2">
            <a:lumMod val="2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76238" y="1705671"/>
            <a:ext cx="7905750" cy="1592403"/>
          </a:xfrm>
        </p:spPr>
        <p:txBody>
          <a:bodyPr anchor="b"/>
          <a:lstStyle>
            <a:lvl1pPr>
              <a:lnSpc>
                <a:spcPct val="95000"/>
              </a:lnSpc>
              <a:defRPr sz="37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376238" y="3429000"/>
            <a:ext cx="7905750" cy="1566532"/>
          </a:xfrm>
        </p:spPr>
        <p:txBody>
          <a:bodyPr lIns="0" tIns="0" rIns="0" bIns="0">
            <a:noAutofit/>
          </a:bodyPr>
          <a:lstStyle>
            <a:lvl1pPr marL="0" indent="0">
              <a:lnSpc>
                <a:spcPct val="95000"/>
              </a:lnSpc>
              <a:spcAft>
                <a:spcPts val="0"/>
              </a:spcAft>
              <a:buNone/>
              <a:defRPr sz="3737">
                <a:solidFill>
                  <a:schemeClr val="bg1"/>
                </a:solidFill>
              </a:defRPr>
            </a:lvl1pPr>
            <a:lvl2pPr marL="443756" indent="0">
              <a:buNone/>
              <a:defRPr sz="1941">
                <a:solidFill>
                  <a:schemeClr val="tx1">
                    <a:tint val="75000"/>
                  </a:schemeClr>
                </a:solidFill>
              </a:defRPr>
            </a:lvl2pPr>
            <a:lvl3pPr marL="887513" indent="0">
              <a:buNone/>
              <a:defRPr sz="1747">
                <a:solidFill>
                  <a:schemeClr val="tx1">
                    <a:tint val="75000"/>
                  </a:schemeClr>
                </a:solidFill>
              </a:defRPr>
            </a:lvl3pPr>
            <a:lvl4pPr marL="1331270" indent="0">
              <a:buNone/>
              <a:defRPr sz="1553">
                <a:solidFill>
                  <a:schemeClr val="tx1">
                    <a:tint val="75000"/>
                  </a:schemeClr>
                </a:solidFill>
              </a:defRPr>
            </a:lvl4pPr>
            <a:lvl5pPr marL="1775027" indent="0">
              <a:buNone/>
              <a:defRPr sz="1553">
                <a:solidFill>
                  <a:schemeClr val="tx1">
                    <a:tint val="75000"/>
                  </a:schemeClr>
                </a:solidFill>
              </a:defRPr>
            </a:lvl5pPr>
            <a:lvl6pPr marL="2218783" indent="0">
              <a:buNone/>
              <a:defRPr sz="1553">
                <a:solidFill>
                  <a:schemeClr val="tx1">
                    <a:tint val="75000"/>
                  </a:schemeClr>
                </a:solidFill>
              </a:defRPr>
            </a:lvl6pPr>
            <a:lvl7pPr marL="2662540" indent="0">
              <a:buNone/>
              <a:defRPr sz="1553">
                <a:solidFill>
                  <a:schemeClr val="tx1">
                    <a:tint val="75000"/>
                  </a:schemeClr>
                </a:solidFill>
              </a:defRPr>
            </a:lvl7pPr>
            <a:lvl8pPr marL="3106297" indent="0">
              <a:buNone/>
              <a:defRPr sz="1553">
                <a:solidFill>
                  <a:schemeClr val="tx1">
                    <a:tint val="75000"/>
                  </a:schemeClr>
                </a:solidFill>
              </a:defRPr>
            </a:lvl8pPr>
            <a:lvl9pPr marL="3550054" indent="0">
              <a:buNone/>
              <a:defRPr sz="1553">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8536784" y="6477000"/>
            <a:ext cx="230981" cy="97078"/>
          </a:xfrm>
          <a:prstGeom prst="rect">
            <a:avLst/>
          </a:prstGeom>
          <a:noFill/>
        </p:spPr>
        <p:txBody>
          <a:bodyPr wrap="square" lIns="0" tIns="0" rIns="0" bIns="0" rtlCol="0">
            <a:spAutoFit/>
          </a:bodyPr>
          <a:lstStyle/>
          <a:p>
            <a:pPr algn="r" fontAlgn="auto">
              <a:spcBef>
                <a:spcPts val="582"/>
              </a:spcBef>
              <a:spcAft>
                <a:spcPts val="0"/>
              </a:spcAft>
              <a:buSzPct val="100000"/>
              <a:buFont typeface="Arial"/>
              <a:buNone/>
            </a:pPr>
            <a:fld id="{C58DF478-B544-4ED8-9ED4-6A2648E2D233}" type="slidenum">
              <a:rPr lang="en-US" sz="631" smtClean="0">
                <a:solidFill>
                  <a:prstClr val="white"/>
                </a:solidFill>
                <a:latin typeface="+mj-lt"/>
                <a:cs typeface="Verdana" panose="020B0604030504040204" pitchFamily="34" charset="0"/>
              </a:rPr>
              <a:pPr algn="r" fontAlgn="auto">
                <a:spcBef>
                  <a:spcPts val="582"/>
                </a:spcBef>
                <a:spcAft>
                  <a:spcPts val="0"/>
                </a:spcAft>
                <a:buSzPct val="100000"/>
                <a:buFont typeface="Arial"/>
                <a:buNone/>
              </a:pPr>
              <a:t>‹#›</a:t>
            </a:fld>
            <a:endParaRPr lang="en-US" sz="631">
              <a:solidFill>
                <a:prstClr val="white"/>
              </a:solidFill>
              <a:latin typeface="+mj-lt"/>
              <a:cs typeface="Verdana" panose="020B0604030504040204" pitchFamily="34" charset="0"/>
            </a:endParaRPr>
          </a:p>
        </p:txBody>
      </p:sp>
      <p:sp>
        <p:nvSpPr>
          <p:cNvPr id="7" name="TextBox 6">
            <a:extLst>
              <a:ext uri="{FF2B5EF4-FFF2-40B4-BE49-F238E27FC236}">
                <a16:creationId xmlns:a16="http://schemas.microsoft.com/office/drawing/2014/main" id="{4CE106AD-1812-4267-B661-B0FC91FC7A6A}"/>
              </a:ext>
            </a:extLst>
          </p:cNvPr>
          <p:cNvSpPr txBox="1"/>
          <p:nvPr userDrawn="1"/>
        </p:nvSpPr>
        <p:spPr>
          <a:xfrm>
            <a:off x="422670" y="6556334"/>
            <a:ext cx="4016376" cy="201260"/>
          </a:xfrm>
          <a:prstGeom prst="rect">
            <a:avLst/>
          </a:prstGeom>
          <a:noFill/>
        </p:spPr>
        <p:txBody>
          <a:bodyPr wrap="square" lIns="0" tIns="0" rIns="0" bIns="0" rtlCol="0">
            <a:noAutofit/>
          </a:bodyPr>
          <a:lstStyle/>
          <a:p>
            <a:pPr>
              <a:spcBef>
                <a:spcPts val="600"/>
              </a:spcBef>
              <a:buSzPct val="100000"/>
              <a:buFont typeface="Arial"/>
              <a:buNone/>
            </a:pPr>
            <a:r>
              <a:rPr lang="fr-FR" sz="650">
                <a:solidFill>
                  <a:schemeClr val="bg1"/>
                </a:solidFill>
                <a:latin typeface="+mj-lt"/>
                <a:ea typeface="Verdana" panose="020B0604030504040204" pitchFamily="34" charset="0"/>
                <a:cs typeface="Verdana" panose="020B0604030504040204" pitchFamily="34" charset="0"/>
              </a:rPr>
              <a:t>© 2023 Acies LLP</a:t>
            </a:r>
          </a:p>
          <a:p>
            <a:pPr>
              <a:spcBef>
                <a:spcPts val="600"/>
              </a:spcBef>
              <a:buSzPct val="100000"/>
              <a:buFont typeface="Arial"/>
              <a:buNone/>
            </a:pPr>
            <a:r>
              <a:rPr lang="fr-FR" sz="650">
                <a:solidFill>
                  <a:schemeClr val="bg1"/>
                </a:solidFill>
                <a:latin typeface="+mj-lt"/>
                <a:ea typeface="Verdana" panose="020B0604030504040204" pitchFamily="34" charset="0"/>
                <a:cs typeface="Verdana" panose="020B0604030504040204" pitchFamily="34" charset="0"/>
              </a:rPr>
              <a:t>Kepler – IFRS 9 Solution</a:t>
            </a:r>
          </a:p>
        </p:txBody>
      </p:sp>
    </p:spTree>
    <p:extLst>
      <p:ext uri="{BB962C8B-B14F-4D97-AF65-F5344CB8AC3E}">
        <p14:creationId xmlns:p14="http://schemas.microsoft.com/office/powerpoint/2010/main" val="278484715"/>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ntents">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938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FDBCBC9B-1A1D-425E-8BFE-46BC2D6AC22B}"/>
              </a:ext>
            </a:extLst>
          </p:cNvPr>
          <p:cNvSpPr txBox="1"/>
          <p:nvPr userDrawn="1"/>
        </p:nvSpPr>
        <p:spPr>
          <a:xfrm>
            <a:off x="3181653" y="6616528"/>
            <a:ext cx="504000" cy="100027"/>
          </a:xfrm>
          <a:prstGeom prst="rect">
            <a:avLst/>
          </a:prstGeom>
          <a:noFill/>
        </p:spPr>
        <p:txBody>
          <a:bodyPr wrap="square" lIns="0" tIns="0" rIns="0" bIns="0" rtlCol="0">
            <a:noAutofit/>
          </a:bodyPr>
          <a:lstStyle/>
          <a:p>
            <a:pPr algn="l">
              <a:spcBef>
                <a:spcPts val="600"/>
              </a:spcBef>
              <a:buSzPct val="100000"/>
              <a:buFont typeface="Arial"/>
              <a:buNone/>
            </a:pPr>
            <a:r>
              <a:rPr lang="en-US" sz="900" b="0">
                <a:solidFill>
                  <a:prstClr val="black"/>
                </a:solidFill>
                <a:latin typeface="Arial" panose="020B0604020202020204" pitchFamily="34" charset="0"/>
                <a:cs typeface="Arial" panose="020B0604020202020204" pitchFamily="34" charset="0"/>
              </a:rPr>
              <a:t>Page </a:t>
            </a:r>
            <a:fld id="{C58DF478-B544-4ED8-9ED4-6A2648E2D233}" type="slidenum">
              <a:rPr lang="en-US" sz="900" b="0" smtClean="0">
                <a:solidFill>
                  <a:prstClr val="black"/>
                </a:solidFill>
                <a:latin typeface="Arial" panose="020B0604020202020204" pitchFamily="34" charset="0"/>
                <a:cs typeface="Arial" panose="020B0604020202020204" pitchFamily="34" charset="0"/>
              </a:rPr>
              <a:pPr algn="l">
                <a:spcBef>
                  <a:spcPts val="600"/>
                </a:spcBef>
                <a:buSzPct val="100000"/>
                <a:buFont typeface="Arial"/>
                <a:buNone/>
              </a:pPr>
              <a:t>‹#›</a:t>
            </a:fld>
            <a:endParaRPr lang="en-US" sz="900" b="0">
              <a:solidFill>
                <a:prstClr val="black"/>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8CF4AD44-D707-44A5-B398-4A3317A0647A}"/>
              </a:ext>
            </a:extLst>
          </p:cNvPr>
          <p:cNvSpPr txBox="1"/>
          <p:nvPr userDrawn="1"/>
        </p:nvSpPr>
        <p:spPr>
          <a:xfrm>
            <a:off x="4521754" y="6446159"/>
            <a:ext cx="4246008" cy="302519"/>
          </a:xfrm>
          <a:prstGeom prst="rect">
            <a:avLst/>
          </a:prstGeom>
          <a:noFill/>
        </p:spPr>
        <p:txBody>
          <a:bodyPr wrap="square" lIns="0" tIns="0" rIns="0" bIns="0" rtlCol="0">
            <a:spAutoFit/>
          </a:bodyPr>
          <a:lstStyle/>
          <a:p>
            <a:pPr algn="r">
              <a:lnSpc>
                <a:spcPct val="114000"/>
              </a:lnSpc>
              <a:buSzPct val="100000"/>
              <a:buFont typeface="Arial"/>
              <a:buNone/>
            </a:pPr>
            <a:r>
              <a:rPr lang="en-US" sz="900">
                <a:solidFill>
                  <a:schemeClr val="tx1"/>
                </a:solidFill>
                <a:latin typeface="Arial" panose="020B0604020202020204" pitchFamily="34" charset="0"/>
                <a:cs typeface="Arial" panose="020B0604020202020204" pitchFamily="34" charset="0"/>
              </a:rPr>
              <a:t>© 2025 Acies LLP</a:t>
            </a:r>
          </a:p>
          <a:p>
            <a:pPr algn="r">
              <a:lnSpc>
                <a:spcPct val="114000"/>
              </a:lnSpc>
              <a:buSzPct val="100000"/>
              <a:buFont typeface="Arial"/>
              <a:buNone/>
            </a:pPr>
            <a:r>
              <a:rPr kumimoji="0" lang="en-US" sz="900" b="0" i="1"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Kepler – IFRS 9 implementation</a:t>
            </a:r>
          </a:p>
        </p:txBody>
      </p:sp>
      <p:cxnSp>
        <p:nvCxnSpPr>
          <p:cNvPr id="9" name="Straight Connector 8">
            <a:extLst>
              <a:ext uri="{FF2B5EF4-FFF2-40B4-BE49-F238E27FC236}">
                <a16:creationId xmlns:a16="http://schemas.microsoft.com/office/drawing/2014/main" id="{5F9F53FB-C863-408A-9026-044ACF0A64A0}"/>
              </a:ext>
            </a:extLst>
          </p:cNvPr>
          <p:cNvCxnSpPr/>
          <p:nvPr userDrawn="1"/>
        </p:nvCxnSpPr>
        <p:spPr>
          <a:xfrm>
            <a:off x="376238" y="6340807"/>
            <a:ext cx="83915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86B32CB-FD56-4755-97EF-45CE2B0E2023}"/>
              </a:ext>
            </a:extLst>
          </p:cNvPr>
          <p:cNvSpPr txBox="1"/>
          <p:nvPr userDrawn="1"/>
        </p:nvSpPr>
        <p:spPr>
          <a:xfrm>
            <a:off x="3181653" y="6466448"/>
            <a:ext cx="1620000" cy="138499"/>
          </a:xfrm>
          <a:prstGeom prst="rect">
            <a:avLst/>
          </a:prstGeom>
          <a:noFill/>
        </p:spPr>
        <p:txBody>
          <a:bodyPr wrap="square" lIns="0" tIns="0" rIns="0" bIns="0" rtlCol="0">
            <a:spAutoFit/>
          </a:bodyPr>
          <a:lstStyle/>
          <a:p>
            <a:pPr>
              <a:spcBef>
                <a:spcPts val="600"/>
              </a:spcBef>
              <a:buSzPct val="100000"/>
              <a:buFont typeface="Arial"/>
              <a:buNone/>
            </a:pPr>
            <a:r>
              <a:rPr lang="en-US" sz="900">
                <a:solidFill>
                  <a:schemeClr val="tx1"/>
                </a:solidFill>
                <a:latin typeface="Arial" panose="020B0604020202020204" pitchFamily="34" charset="0"/>
                <a:cs typeface="Arial" panose="020B0604020202020204" pitchFamily="34" charset="0"/>
              </a:rPr>
              <a:t>Private</a:t>
            </a:r>
            <a:r>
              <a:rPr lang="en-US" sz="900" baseline="0">
                <a:solidFill>
                  <a:schemeClr val="tx1"/>
                </a:solidFill>
                <a:latin typeface="Arial" panose="020B0604020202020204" pitchFamily="34" charset="0"/>
                <a:cs typeface="Arial" panose="020B0604020202020204" pitchFamily="34" charset="0"/>
              </a:rPr>
              <a:t> and Confidential</a:t>
            </a:r>
            <a:endParaRPr lang="en-US" sz="900">
              <a:solidFill>
                <a:schemeClr val="tx1"/>
              </a:solidFill>
              <a:latin typeface="Arial" panose="020B0604020202020204" pitchFamily="34" charset="0"/>
              <a:cs typeface="Arial" panose="020B0604020202020204" pitchFamily="34" charset="0"/>
            </a:endParaRPr>
          </a:p>
        </p:txBody>
      </p:sp>
      <p:pic>
        <p:nvPicPr>
          <p:cNvPr id="12" name="Picture 11" descr="A close up of a logo&#10;&#10;Description automatically generated">
            <a:extLst>
              <a:ext uri="{FF2B5EF4-FFF2-40B4-BE49-F238E27FC236}">
                <a16:creationId xmlns:a16="http://schemas.microsoft.com/office/drawing/2014/main" id="{C95CE46E-BA9D-4196-AD28-FE5614FF4837}"/>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250298" y="6386129"/>
            <a:ext cx="1357200" cy="425285"/>
          </a:xfrm>
          <a:prstGeom prst="rect">
            <a:avLst/>
          </a:prstGeom>
        </p:spPr>
      </p:pic>
    </p:spTree>
    <p:extLst>
      <p:ext uri="{BB962C8B-B14F-4D97-AF65-F5344CB8AC3E}">
        <p14:creationId xmlns:p14="http://schemas.microsoft.com/office/powerpoint/2010/main" val="3670674096"/>
      </p:ext>
    </p:extLst>
  </p:cSld>
  <p:clrMap bg1="lt1" tx1="dk1" bg2="lt2" tx2="dk2" accent1="accent1" accent2="accent2" accent3="accent3" accent4="accent4" accent5="accent5" accent6="accent6" hlink="hlink" folHlink="folHlink"/>
  <p:sldLayoutIdLst>
    <p:sldLayoutId id="2147484107" r:id="rId1"/>
    <p:sldLayoutId id="2147484108" r:id="rId2"/>
    <p:sldLayoutId id="2147484109" r:id="rId3"/>
    <p:sldLayoutId id="2147484127" r:id="rId4"/>
    <p:sldLayoutId id="2147484121" r:id="rId5"/>
    <p:sldLayoutId id="214748412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56A33443-93E3-4EAA-8463-7DBF2206D9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9" name="Rectangle 28">
            <a:extLst>
              <a:ext uri="{FF2B5EF4-FFF2-40B4-BE49-F238E27FC236}">
                <a16:creationId xmlns:a16="http://schemas.microsoft.com/office/drawing/2014/main" id="{8AA44E9D-5876-4C18-8E76-B62E35582587}"/>
              </a:ext>
            </a:extLst>
          </p:cNvPr>
          <p:cNvSpPr/>
          <p:nvPr/>
        </p:nvSpPr>
        <p:spPr>
          <a:xfrm>
            <a:off x="0" y="6225702"/>
            <a:ext cx="9144000" cy="632300"/>
          </a:xfrm>
          <a:prstGeom prst="rect">
            <a:avLst/>
          </a:prstGeom>
          <a:solidFill>
            <a:schemeClr val="tx1">
              <a:alpha val="48000"/>
            </a:schemeClr>
          </a:solidFill>
        </p:spPr>
        <p:txBody>
          <a:bodyPr vert="horz" lIns="91440" tIns="45720" rIns="91440" bIns="45720" rtlCol="0" anchor="ctr">
            <a:normAutofit lnSpcReduction="10000"/>
          </a:bodyPr>
          <a:lstStyle/>
          <a:p>
            <a:pPr lvl="0" algn="just">
              <a:lnSpc>
                <a:spcPct val="120000"/>
              </a:lnSpc>
              <a:defRPr/>
            </a:pPr>
            <a:r>
              <a:rPr lang="en-US" sz="800" i="1">
                <a:solidFill>
                  <a:prstClr val="white"/>
                </a:solidFill>
                <a:latin typeface="Arial" panose="020B0604020202020204" pitchFamily="34" charset="0"/>
                <a:cs typeface="Arial" panose="020B0604020202020204" pitchFamily="34" charset="0"/>
              </a:rPr>
              <a:t>This document is intended solely for the information and internal use of </a:t>
            </a:r>
            <a:r>
              <a:rPr lang="en-IN" sz="800" i="1">
                <a:solidFill>
                  <a:prstClr val="white"/>
                </a:solidFill>
                <a:latin typeface="Arial" panose="020B0604020202020204" pitchFamily="34" charset="0"/>
                <a:cs typeface="Arial" panose="020B0604020202020204" pitchFamily="34" charset="0"/>
              </a:rPr>
              <a:t>Credila Financial Services Limited </a:t>
            </a:r>
            <a:r>
              <a:rPr lang="en-US" sz="800" i="1">
                <a:solidFill>
                  <a:prstClr val="white"/>
                </a:solidFill>
                <a:latin typeface="Arial" panose="020B0604020202020204" pitchFamily="34" charset="0"/>
                <a:cs typeface="Arial" panose="020B0604020202020204" pitchFamily="34" charset="0"/>
              </a:rPr>
              <a:t>and contains confidential and proprietary information. It is not intended to be and should not be used by any other person or entity. This document or any parts thereof are meant for the use of only the intended recipient and should not be circulated, distributed or copied. Acies, </a:t>
            </a:r>
            <a:r>
              <a:rPr lang="en-US" sz="800">
                <a:solidFill>
                  <a:schemeClr val="bg1"/>
                </a:solidFill>
              </a:rPr>
              <a:t>Acies Consulting, Acies TechWorks, Acies Ventures, Acies LightHouse, Kepler, Kore, Revolutio, Antares and </a:t>
            </a:r>
            <a:r>
              <a:rPr lang="en-US" sz="800" err="1">
                <a:solidFill>
                  <a:schemeClr val="bg1"/>
                </a:solidFill>
              </a:rPr>
              <a:t>Streamlign</a:t>
            </a:r>
            <a:r>
              <a:rPr lang="en-US" sz="800">
                <a:solidFill>
                  <a:schemeClr val="bg1"/>
                </a:solidFill>
              </a:rPr>
              <a:t> are registered trademarks of Acies LLP and its subsidiaries in India and/ or other countries. </a:t>
            </a:r>
          </a:p>
        </p:txBody>
      </p:sp>
      <p:sp>
        <p:nvSpPr>
          <p:cNvPr id="30" name="Rectangle 29">
            <a:extLst>
              <a:ext uri="{FF2B5EF4-FFF2-40B4-BE49-F238E27FC236}">
                <a16:creationId xmlns:a16="http://schemas.microsoft.com/office/drawing/2014/main" id="{F63562F3-3CB9-46FA-9633-F14D4346C2C2}"/>
              </a:ext>
            </a:extLst>
          </p:cNvPr>
          <p:cNvSpPr/>
          <p:nvPr/>
        </p:nvSpPr>
        <p:spPr>
          <a:xfrm>
            <a:off x="2960072" y="2937194"/>
            <a:ext cx="6183927" cy="1267055"/>
          </a:xfrm>
          <a:prstGeom prst="rect">
            <a:avLst/>
          </a:prstGeom>
          <a:solidFill>
            <a:srgbClr val="B58D2B">
              <a:alpha val="84000"/>
            </a:srgbClr>
          </a:solidFill>
          <a:ln w="0"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5F5F5"/>
              </a:solidFill>
              <a:effectLst/>
              <a:uLnTx/>
              <a:uFillTx/>
              <a:latin typeface="Arial"/>
              <a:ea typeface="+mn-ea"/>
              <a:cs typeface="+mn-cs"/>
            </a:endParaRPr>
          </a:p>
        </p:txBody>
      </p:sp>
      <p:sp>
        <p:nvSpPr>
          <p:cNvPr id="31" name="Rectangle 30">
            <a:extLst>
              <a:ext uri="{FF2B5EF4-FFF2-40B4-BE49-F238E27FC236}">
                <a16:creationId xmlns:a16="http://schemas.microsoft.com/office/drawing/2014/main" id="{E387550B-EEC1-46FA-8D24-2DB67C0E11D3}"/>
              </a:ext>
            </a:extLst>
          </p:cNvPr>
          <p:cNvSpPr/>
          <p:nvPr/>
        </p:nvSpPr>
        <p:spPr>
          <a:xfrm>
            <a:off x="0" y="2937194"/>
            <a:ext cx="2960071" cy="1267055"/>
          </a:xfrm>
          <a:prstGeom prst="rect">
            <a:avLst/>
          </a:prstGeom>
          <a:solidFill>
            <a:schemeClr val="tx1"/>
          </a:solidFill>
          <a:ln w="0"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5F5F5"/>
              </a:solidFill>
              <a:effectLst/>
              <a:uLnTx/>
              <a:uFillTx/>
              <a:latin typeface="Arial"/>
              <a:ea typeface="+mn-ea"/>
              <a:cs typeface="+mn-cs"/>
            </a:endParaRPr>
          </a:p>
        </p:txBody>
      </p:sp>
      <p:sp>
        <p:nvSpPr>
          <p:cNvPr id="33" name="Text Placeholder 2">
            <a:extLst>
              <a:ext uri="{FF2B5EF4-FFF2-40B4-BE49-F238E27FC236}">
                <a16:creationId xmlns:a16="http://schemas.microsoft.com/office/drawing/2014/main" id="{D1247839-188F-4609-8F43-752DC1BDC04F}"/>
              </a:ext>
            </a:extLst>
          </p:cNvPr>
          <p:cNvSpPr txBox="1">
            <a:spLocks/>
          </p:cNvSpPr>
          <p:nvPr/>
        </p:nvSpPr>
        <p:spPr>
          <a:xfrm>
            <a:off x="2565882" y="3655555"/>
            <a:ext cx="6578118" cy="966246"/>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2400" b="0" i="0" kern="1200" baseline="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kumimoji="0" lang="en-US" sz="2000" b="1" i="0" u="none" strike="noStrike" kern="1200" cap="none" spc="0" normalizeH="0" baseline="0" noProof="0" dirty="0">
                <a:ln>
                  <a:noFill/>
                </a:ln>
                <a:effectLst/>
                <a:uLnTx/>
                <a:uFillTx/>
                <a:latin typeface="+mj-lt"/>
                <a:ea typeface="+mn-ea"/>
                <a:cs typeface="+mn-cs"/>
              </a:rPr>
              <a:t>Technical </a:t>
            </a:r>
            <a:r>
              <a:rPr lang="en-US" sz="2000" b="1" dirty="0">
                <a:latin typeface="+mj-lt"/>
              </a:rPr>
              <a:t>Architecture</a:t>
            </a:r>
            <a:r>
              <a:rPr kumimoji="0" lang="en-US" sz="2000" b="1" i="0" u="none" strike="noStrike" kern="1200" cap="none" spc="0" normalizeH="0" baseline="0" noProof="0" dirty="0">
                <a:ln>
                  <a:noFill/>
                </a:ln>
                <a:effectLst/>
                <a:uLnTx/>
                <a:uFillTx/>
                <a:latin typeface="+mj-lt"/>
                <a:ea typeface="+mn-ea"/>
                <a:cs typeface="+mn-cs"/>
              </a:rPr>
              <a:t> – Kepler </a:t>
            </a:r>
            <a:r>
              <a:rPr lang="en-US" sz="2000" b="1" dirty="0">
                <a:latin typeface="+mj-lt"/>
              </a:rPr>
              <a:t>EWS </a:t>
            </a:r>
            <a:endParaRPr kumimoji="0" lang="en-US" sz="2000" b="1" i="0" u="none" strike="noStrike" kern="1200" cap="none" spc="0" normalizeH="0" baseline="0" noProof="0" dirty="0">
              <a:ln>
                <a:noFill/>
              </a:ln>
              <a:effectLst/>
              <a:uLnTx/>
              <a:uFillTx/>
              <a:latin typeface="+mj-lt"/>
              <a:ea typeface="+mn-ea"/>
              <a:cs typeface="+mn-cs"/>
            </a:endParaRPr>
          </a:p>
        </p:txBody>
      </p:sp>
      <p:sp>
        <p:nvSpPr>
          <p:cNvPr id="32" name="Text Placeholder 1">
            <a:extLst>
              <a:ext uri="{FF2B5EF4-FFF2-40B4-BE49-F238E27FC236}">
                <a16:creationId xmlns:a16="http://schemas.microsoft.com/office/drawing/2014/main" id="{99855AAA-5D21-423C-8404-4F34F526D6FB}"/>
              </a:ext>
            </a:extLst>
          </p:cNvPr>
          <p:cNvSpPr txBox="1">
            <a:spLocks/>
          </p:cNvSpPr>
          <p:nvPr/>
        </p:nvSpPr>
        <p:spPr>
          <a:xfrm>
            <a:off x="2248187" y="3109676"/>
            <a:ext cx="7185991" cy="407417"/>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2800" b="1" i="0" kern="1200" baseline="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defRPr/>
            </a:pPr>
            <a:r>
              <a:rPr lang="en-US" sz="2400" dirty="0" err="1">
                <a:solidFill>
                  <a:srgbClr val="F9F8E5"/>
                </a:solidFill>
              </a:rPr>
              <a:t>Fedbank</a:t>
            </a:r>
            <a:r>
              <a:rPr lang="en-US" sz="2400" dirty="0">
                <a:solidFill>
                  <a:srgbClr val="F9F8E5"/>
                </a:solidFill>
              </a:rPr>
              <a:t> Financial Services Limited</a:t>
            </a:r>
          </a:p>
        </p:txBody>
      </p:sp>
      <p:pic>
        <p:nvPicPr>
          <p:cNvPr id="36" name="Picture 35">
            <a:extLst>
              <a:ext uri="{FF2B5EF4-FFF2-40B4-BE49-F238E27FC236}">
                <a16:creationId xmlns:a16="http://schemas.microsoft.com/office/drawing/2014/main" id="{6CE5E15D-9D99-4920-B089-7C9749C670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748" y="3082244"/>
            <a:ext cx="2962959" cy="966246"/>
          </a:xfrm>
          <a:prstGeom prst="rect">
            <a:avLst/>
          </a:prstGeom>
        </p:spPr>
      </p:pic>
    </p:spTree>
    <p:extLst>
      <p:ext uri="{BB962C8B-B14F-4D97-AF65-F5344CB8AC3E}">
        <p14:creationId xmlns:p14="http://schemas.microsoft.com/office/powerpoint/2010/main" val="380491191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9C73C-2846-3E80-D67B-AD77AF1002C2}"/>
            </a:ext>
          </a:extLst>
        </p:cNvPr>
        <p:cNvGrpSpPr/>
        <p:nvPr/>
      </p:nvGrpSpPr>
      <p:grpSpPr>
        <a:xfrm>
          <a:off x="0" y="0"/>
          <a:ext cx="0" cy="0"/>
          <a:chOff x="0" y="0"/>
          <a:chExt cx="0" cy="0"/>
        </a:xfrm>
      </p:grpSpPr>
      <p:graphicFrame>
        <p:nvGraphicFramePr>
          <p:cNvPr id="58" name="Table 57">
            <a:extLst>
              <a:ext uri="{FF2B5EF4-FFF2-40B4-BE49-F238E27FC236}">
                <a16:creationId xmlns:a16="http://schemas.microsoft.com/office/drawing/2014/main" id="{E8C17BF9-8F7E-7913-03D4-E9CFCD9B6A01}"/>
              </a:ext>
            </a:extLst>
          </p:cNvPr>
          <p:cNvGraphicFramePr>
            <a:graphicFrameLocks noGrp="1"/>
          </p:cNvGraphicFramePr>
          <p:nvPr/>
        </p:nvGraphicFramePr>
        <p:xfrm>
          <a:off x="389685" y="303818"/>
          <a:ext cx="8366394" cy="560593"/>
        </p:xfrm>
        <a:graphic>
          <a:graphicData uri="http://schemas.openxmlformats.org/drawingml/2006/table">
            <a:tbl>
              <a:tblPr firstRow="1" bandRow="1"/>
              <a:tblGrid>
                <a:gridCol w="8366394">
                  <a:extLst>
                    <a:ext uri="{9D8B030D-6E8A-4147-A177-3AD203B41FA5}">
                      <a16:colId xmlns:a16="http://schemas.microsoft.com/office/drawing/2014/main" val="20000"/>
                    </a:ext>
                  </a:extLst>
                </a:gridCol>
              </a:tblGrid>
              <a:tr h="560593">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l"/>
                      <a:r>
                        <a:rPr lang="en-US" sz="2000" b="0" i="0">
                          <a:solidFill>
                            <a:schemeClr val="tx1"/>
                          </a:solidFill>
                          <a:latin typeface="Arial" panose="020B0604020202020204" pitchFamily="34" charset="0"/>
                          <a:ea typeface="Verdana" panose="020B0604030504040204" pitchFamily="34" charset="0"/>
                          <a:cs typeface="Arial" panose="020B0604020202020204" pitchFamily="34" charset="0"/>
                        </a:rPr>
                        <a:t>Deployment architecture Dev / UAT and Prod</a:t>
                      </a:r>
                    </a:p>
                  </a:txBody>
                  <a:tcPr marL="80666" marR="80666" marT="40333" marB="403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59" name="Rectangle 58">
            <a:extLst>
              <a:ext uri="{FF2B5EF4-FFF2-40B4-BE49-F238E27FC236}">
                <a16:creationId xmlns:a16="http://schemas.microsoft.com/office/drawing/2014/main" id="{BFA62C5E-9E84-F2A6-BD36-40ACC45DEB81}"/>
              </a:ext>
            </a:extLst>
          </p:cNvPr>
          <p:cNvSpPr/>
          <p:nvPr/>
        </p:nvSpPr>
        <p:spPr>
          <a:xfrm>
            <a:off x="2793133" y="1040860"/>
            <a:ext cx="5910328" cy="5198015"/>
          </a:xfrm>
          <a:prstGeom prst="rect">
            <a:avLst/>
          </a:prstGeom>
          <a:no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60" name="Rectangle 59">
            <a:extLst>
              <a:ext uri="{FF2B5EF4-FFF2-40B4-BE49-F238E27FC236}">
                <a16:creationId xmlns:a16="http://schemas.microsoft.com/office/drawing/2014/main" id="{7104E89D-04ED-DA22-29E6-E90387CF3FCE}"/>
              </a:ext>
            </a:extLst>
          </p:cNvPr>
          <p:cNvSpPr/>
          <p:nvPr/>
        </p:nvSpPr>
        <p:spPr>
          <a:xfrm>
            <a:off x="76150" y="2577288"/>
            <a:ext cx="883318" cy="1113386"/>
          </a:xfrm>
          <a:prstGeom prst="rect">
            <a:avLst/>
          </a:prstGeom>
          <a:solidFill>
            <a:sysClr val="window" lastClr="FFFFFF">
              <a:lumMod val="95000"/>
            </a:sysClr>
          </a:solidFill>
          <a:ln w="12700" cap="flat" cmpd="sng" algn="ctr">
            <a:solidFill>
              <a:srgbClr val="49494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Arial" panose="020B0604020202020204"/>
              <a:ea typeface="+mn-ea"/>
              <a:cs typeface="+mn-cs"/>
            </a:endParaRPr>
          </a:p>
        </p:txBody>
      </p:sp>
      <p:grpSp>
        <p:nvGrpSpPr>
          <p:cNvPr id="61" name="Group 60">
            <a:extLst>
              <a:ext uri="{FF2B5EF4-FFF2-40B4-BE49-F238E27FC236}">
                <a16:creationId xmlns:a16="http://schemas.microsoft.com/office/drawing/2014/main" id="{28E420FA-97F7-666F-BEA1-E76E747E7386}"/>
              </a:ext>
            </a:extLst>
          </p:cNvPr>
          <p:cNvGrpSpPr/>
          <p:nvPr/>
        </p:nvGrpSpPr>
        <p:grpSpPr>
          <a:xfrm>
            <a:off x="292936" y="2691997"/>
            <a:ext cx="457957" cy="921853"/>
            <a:chOff x="490434" y="2577696"/>
            <a:chExt cx="457957" cy="921853"/>
          </a:xfrm>
        </p:grpSpPr>
        <p:pic>
          <p:nvPicPr>
            <p:cNvPr id="62" name="Graphic 61" descr="Laptop with solid fill">
              <a:extLst>
                <a:ext uri="{FF2B5EF4-FFF2-40B4-BE49-F238E27FC236}">
                  <a16:creationId xmlns:a16="http://schemas.microsoft.com/office/drawing/2014/main" id="{71515828-6CAD-059E-578B-EF890B84AD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191" y="2577696"/>
              <a:ext cx="457200" cy="457200"/>
            </a:xfrm>
            <a:prstGeom prst="rect">
              <a:avLst/>
            </a:prstGeom>
          </p:spPr>
        </p:pic>
        <p:pic>
          <p:nvPicPr>
            <p:cNvPr id="63" name="Graphic 62" descr="Laptop with solid fill">
              <a:extLst>
                <a:ext uri="{FF2B5EF4-FFF2-40B4-BE49-F238E27FC236}">
                  <a16:creationId xmlns:a16="http://schemas.microsoft.com/office/drawing/2014/main" id="{CF56A567-011B-E7A0-4D79-87A67035895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0434" y="3042349"/>
              <a:ext cx="457200" cy="457200"/>
            </a:xfrm>
            <a:prstGeom prst="rect">
              <a:avLst/>
            </a:prstGeom>
          </p:spPr>
        </p:pic>
      </p:grpSp>
      <p:sp>
        <p:nvSpPr>
          <p:cNvPr id="64" name="Rectangle 63">
            <a:extLst>
              <a:ext uri="{FF2B5EF4-FFF2-40B4-BE49-F238E27FC236}">
                <a16:creationId xmlns:a16="http://schemas.microsoft.com/office/drawing/2014/main" id="{DAA26534-1A2D-B90A-D0A8-9EB6D286603C}"/>
              </a:ext>
            </a:extLst>
          </p:cNvPr>
          <p:cNvSpPr/>
          <p:nvPr/>
        </p:nvSpPr>
        <p:spPr>
          <a:xfrm>
            <a:off x="-199163" y="2268405"/>
            <a:ext cx="1617289" cy="339446"/>
          </a:xfrm>
          <a:prstGeom prst="rect">
            <a:avLst/>
          </a:prstGeom>
          <a:noFill/>
          <a:ln w="12700"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a:ln>
                  <a:noFill/>
                </a:ln>
                <a:solidFill>
                  <a:prstClr val="black"/>
                </a:solidFill>
                <a:effectLst/>
                <a:uLnTx/>
                <a:uFillTx/>
                <a:latin typeface="Arial" panose="020B0604020202020204"/>
                <a:ea typeface="+mn-ea"/>
                <a:cs typeface="+mn-cs"/>
              </a:rPr>
              <a:t>jump server</a:t>
            </a:r>
          </a:p>
        </p:txBody>
      </p:sp>
      <p:cxnSp>
        <p:nvCxnSpPr>
          <p:cNvPr id="65" name="Straight Arrow Connector 64">
            <a:extLst>
              <a:ext uri="{FF2B5EF4-FFF2-40B4-BE49-F238E27FC236}">
                <a16:creationId xmlns:a16="http://schemas.microsoft.com/office/drawing/2014/main" id="{C18F9DF9-379D-EDF4-F7AE-8EF659E687BA}"/>
              </a:ext>
            </a:extLst>
          </p:cNvPr>
          <p:cNvCxnSpPr>
            <a:cxnSpLocks/>
            <a:stCxn id="66" idx="0"/>
            <a:endCxn id="60" idx="2"/>
          </p:cNvCxnSpPr>
          <p:nvPr/>
        </p:nvCxnSpPr>
        <p:spPr>
          <a:xfrm flipH="1" flipV="1">
            <a:off x="517809" y="3690674"/>
            <a:ext cx="593492" cy="731685"/>
          </a:xfrm>
          <a:prstGeom prst="straightConnector1">
            <a:avLst/>
          </a:prstGeom>
          <a:noFill/>
          <a:ln w="38100" cap="flat" cmpd="sng" algn="ctr">
            <a:solidFill>
              <a:srgbClr val="B58D2B">
                <a:lumMod val="50000"/>
              </a:srgbClr>
            </a:solidFill>
            <a:prstDash val="solid"/>
            <a:miter lim="800000"/>
            <a:headEnd type="triangle"/>
            <a:tailEnd type="triangle"/>
          </a:ln>
          <a:effectLst/>
        </p:spPr>
      </p:cxnSp>
      <p:sp>
        <p:nvSpPr>
          <p:cNvPr id="66" name="Rectangle 65">
            <a:extLst>
              <a:ext uri="{FF2B5EF4-FFF2-40B4-BE49-F238E27FC236}">
                <a16:creationId xmlns:a16="http://schemas.microsoft.com/office/drawing/2014/main" id="{62B6609C-0EF0-05F4-46C3-F2AB40FCBAB6}"/>
              </a:ext>
            </a:extLst>
          </p:cNvPr>
          <p:cNvSpPr/>
          <p:nvPr/>
        </p:nvSpPr>
        <p:spPr>
          <a:xfrm>
            <a:off x="348074" y="4422359"/>
            <a:ext cx="1526454" cy="638445"/>
          </a:xfrm>
          <a:prstGeom prst="rect">
            <a:avLst/>
          </a:prstGeom>
          <a:solidFill>
            <a:sysClr val="window" lastClr="FFFFFF">
              <a:lumMod val="95000"/>
            </a:sysClr>
          </a:solidFill>
          <a:ln w="12700" cap="flat" cmpd="sng" algn="ctr">
            <a:solidFill>
              <a:srgbClr val="49494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a:ln>
                  <a:noFill/>
                </a:ln>
                <a:solidFill>
                  <a:prstClr val="black"/>
                </a:solidFill>
                <a:effectLst/>
                <a:uLnTx/>
                <a:uFillTx/>
                <a:latin typeface="Arial" panose="020B0604020202020204"/>
                <a:ea typeface="+mn-ea"/>
                <a:cs typeface="+mn-cs"/>
              </a:rPr>
              <a:t>Outside network (Acies Professional)</a:t>
            </a:r>
          </a:p>
        </p:txBody>
      </p:sp>
      <p:sp>
        <p:nvSpPr>
          <p:cNvPr id="67" name="Rectangle 66">
            <a:extLst>
              <a:ext uri="{FF2B5EF4-FFF2-40B4-BE49-F238E27FC236}">
                <a16:creationId xmlns:a16="http://schemas.microsoft.com/office/drawing/2014/main" id="{D0DB9867-CE9D-618B-C0CF-1841E0983CC5}"/>
              </a:ext>
            </a:extLst>
          </p:cNvPr>
          <p:cNvSpPr/>
          <p:nvPr/>
        </p:nvSpPr>
        <p:spPr>
          <a:xfrm>
            <a:off x="262339" y="2150520"/>
            <a:ext cx="694284" cy="279064"/>
          </a:xfrm>
          <a:prstGeom prst="rect">
            <a:avLst/>
          </a:prstGeom>
          <a:noFill/>
          <a:ln w="12700"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dirty="0">
                <a:ln>
                  <a:noFill/>
                </a:ln>
                <a:solidFill>
                  <a:srgbClr val="B58D2B"/>
                </a:solidFill>
                <a:effectLst/>
                <a:uLnTx/>
                <a:uFillTx/>
                <a:latin typeface="Arial" panose="020B0604020202020204"/>
                <a:ea typeface="+mn-ea"/>
                <a:cs typeface="+mn-cs"/>
              </a:rPr>
              <a:t>VDI / VPN</a:t>
            </a:r>
          </a:p>
        </p:txBody>
      </p:sp>
      <p:sp>
        <p:nvSpPr>
          <p:cNvPr id="71" name="Rectangle 70">
            <a:extLst>
              <a:ext uri="{FF2B5EF4-FFF2-40B4-BE49-F238E27FC236}">
                <a16:creationId xmlns:a16="http://schemas.microsoft.com/office/drawing/2014/main" id="{7D8EB552-D81E-12BA-1CC2-3EE26B906C3E}"/>
              </a:ext>
            </a:extLst>
          </p:cNvPr>
          <p:cNvSpPr/>
          <p:nvPr/>
        </p:nvSpPr>
        <p:spPr>
          <a:xfrm>
            <a:off x="539260" y="5848391"/>
            <a:ext cx="972493" cy="234377"/>
          </a:xfrm>
          <a:prstGeom prst="rect">
            <a:avLst/>
          </a:prstGeom>
          <a:noFill/>
          <a:ln w="12700"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B58D2B"/>
                </a:solidFill>
                <a:effectLst/>
                <a:uLnTx/>
                <a:uFillTx/>
                <a:latin typeface="Arial" panose="020B0604020202020204"/>
                <a:ea typeface="+mn-ea"/>
                <a:cs typeface="+mn-cs"/>
              </a:rPr>
              <a:t>Connectivity</a:t>
            </a:r>
          </a:p>
        </p:txBody>
      </p:sp>
      <p:sp>
        <p:nvSpPr>
          <p:cNvPr id="73" name="Rectangle 72">
            <a:extLst>
              <a:ext uri="{FF2B5EF4-FFF2-40B4-BE49-F238E27FC236}">
                <a16:creationId xmlns:a16="http://schemas.microsoft.com/office/drawing/2014/main" id="{29596C30-2930-845B-217E-A7EFC7F4BD6B}"/>
              </a:ext>
            </a:extLst>
          </p:cNvPr>
          <p:cNvSpPr/>
          <p:nvPr/>
        </p:nvSpPr>
        <p:spPr>
          <a:xfrm>
            <a:off x="4002874" y="1792903"/>
            <a:ext cx="1190981" cy="385327"/>
          </a:xfrm>
          <a:prstGeom prst="rect">
            <a:avLst/>
          </a:prstGeom>
          <a:noFill/>
          <a:ln w="12700"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B58D2B"/>
                </a:solidFill>
                <a:effectLst/>
                <a:uLnTx/>
                <a:uFillTx/>
                <a:latin typeface="Arial" panose="020B0604020202020204"/>
                <a:ea typeface="+mn-ea"/>
                <a:cs typeface="+mn-cs"/>
              </a:rPr>
              <a:t>App/ Web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B58D2B"/>
                </a:solidFill>
                <a:effectLst/>
                <a:uLnTx/>
                <a:uFillTx/>
                <a:latin typeface="Arial" panose="020B0604020202020204"/>
                <a:ea typeface="+mn-ea"/>
                <a:cs typeface="+mn-cs"/>
              </a:rPr>
              <a:t>Server</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800" b="1" kern="0" dirty="0">
                <a:solidFill>
                  <a:srgbClr val="B58D2B"/>
                </a:solidFill>
                <a:latin typeface="Arial" panose="020B0604020202020204"/>
              </a:rPr>
              <a:t>EC2 Instance(Linux)</a:t>
            </a:r>
          </a:p>
          <a:p>
            <a:pPr lvl="0" algn="ctr">
              <a:defRPr/>
            </a:pPr>
            <a:r>
              <a:rPr lang="en-IN" sz="800" dirty="0">
                <a:solidFill>
                  <a:srgbClr val="000000"/>
                </a:solidFill>
              </a:rPr>
              <a:t>Type-t4g.xlarge</a:t>
            </a:r>
            <a:endParaRPr lang="en-IN" sz="800" b="1" kern="0" dirty="0">
              <a:solidFill>
                <a:srgbClr val="B58D2B"/>
              </a:solidFill>
              <a:latin typeface="Arial" panose="020B0604020202020204"/>
            </a:endParaRPr>
          </a:p>
        </p:txBody>
      </p:sp>
      <p:pic>
        <p:nvPicPr>
          <p:cNvPr id="74" name="Graphic 73" descr="Remote learning science with solid fill">
            <a:extLst>
              <a:ext uri="{FF2B5EF4-FFF2-40B4-BE49-F238E27FC236}">
                <a16:creationId xmlns:a16="http://schemas.microsoft.com/office/drawing/2014/main" id="{738CC948-221D-5CC0-EDC3-DF008A2051B8}"/>
              </a:ext>
            </a:extLst>
          </p:cNvPr>
          <p:cNvPicPr>
            <a:picLocks/>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07731" y="1586114"/>
            <a:ext cx="576072" cy="576072"/>
          </a:xfrm>
          <a:prstGeom prst="rect">
            <a:avLst/>
          </a:prstGeom>
        </p:spPr>
      </p:pic>
      <p:sp>
        <p:nvSpPr>
          <p:cNvPr id="75" name="Rectangle 74">
            <a:extLst>
              <a:ext uri="{FF2B5EF4-FFF2-40B4-BE49-F238E27FC236}">
                <a16:creationId xmlns:a16="http://schemas.microsoft.com/office/drawing/2014/main" id="{FD2510FC-5226-7A55-DE9E-AC21B757B6CF}"/>
              </a:ext>
            </a:extLst>
          </p:cNvPr>
          <p:cNvSpPr/>
          <p:nvPr/>
        </p:nvSpPr>
        <p:spPr>
          <a:xfrm>
            <a:off x="3191194" y="1276145"/>
            <a:ext cx="5213503" cy="1881881"/>
          </a:xfrm>
          <a:prstGeom prst="rect">
            <a:avLst/>
          </a:prstGeom>
          <a:noFill/>
          <a:ln w="19050" cap="flat" cmpd="sng" algn="ctr">
            <a:solidFill>
              <a:srgbClr val="706051"/>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Arial" panose="020B0604020202020204"/>
              <a:ea typeface="+mn-ea"/>
              <a:cs typeface="+mn-cs"/>
            </a:endParaRPr>
          </a:p>
        </p:txBody>
      </p:sp>
      <p:grpSp>
        <p:nvGrpSpPr>
          <p:cNvPr id="76" name="Group 75">
            <a:extLst>
              <a:ext uri="{FF2B5EF4-FFF2-40B4-BE49-F238E27FC236}">
                <a16:creationId xmlns:a16="http://schemas.microsoft.com/office/drawing/2014/main" id="{40D13807-1590-1FA7-58B9-BC191900003C}"/>
              </a:ext>
            </a:extLst>
          </p:cNvPr>
          <p:cNvGrpSpPr/>
          <p:nvPr/>
        </p:nvGrpSpPr>
        <p:grpSpPr>
          <a:xfrm>
            <a:off x="3159911" y="913901"/>
            <a:ext cx="5244786" cy="292727"/>
            <a:chOff x="3416411" y="1448928"/>
            <a:chExt cx="1362844" cy="265612"/>
          </a:xfrm>
        </p:grpSpPr>
        <p:cxnSp>
          <p:nvCxnSpPr>
            <p:cNvPr id="77" name="Straight Arrow Connector 76">
              <a:extLst>
                <a:ext uri="{FF2B5EF4-FFF2-40B4-BE49-F238E27FC236}">
                  <a16:creationId xmlns:a16="http://schemas.microsoft.com/office/drawing/2014/main" id="{3C04AD6D-57A9-9BFD-D540-EC229ADCD44A}"/>
                </a:ext>
              </a:extLst>
            </p:cNvPr>
            <p:cNvCxnSpPr>
              <a:cxnSpLocks/>
            </p:cNvCxnSpPr>
            <p:nvPr/>
          </p:nvCxnSpPr>
          <p:spPr>
            <a:xfrm>
              <a:off x="3416411" y="1564932"/>
              <a:ext cx="1362844" cy="0"/>
            </a:xfrm>
            <a:prstGeom prst="straightConnector1">
              <a:avLst/>
            </a:prstGeom>
            <a:noFill/>
            <a:ln w="6350" cap="flat" cmpd="sng" algn="ctr">
              <a:solidFill>
                <a:srgbClr val="494947"/>
              </a:solidFill>
              <a:prstDash val="solid"/>
              <a:miter lim="800000"/>
              <a:headEnd type="triangle"/>
              <a:tailEnd type="triangle"/>
            </a:ln>
            <a:effectLst/>
          </p:spPr>
        </p:cxnSp>
        <p:sp>
          <p:nvSpPr>
            <p:cNvPr id="78" name="Rectangle 77">
              <a:extLst>
                <a:ext uri="{FF2B5EF4-FFF2-40B4-BE49-F238E27FC236}">
                  <a16:creationId xmlns:a16="http://schemas.microsoft.com/office/drawing/2014/main" id="{233DC0A2-A3A4-EC91-B9EB-ED75E1905EAB}"/>
                </a:ext>
              </a:extLst>
            </p:cNvPr>
            <p:cNvSpPr/>
            <p:nvPr/>
          </p:nvSpPr>
          <p:spPr>
            <a:xfrm>
              <a:off x="3686663" y="1448928"/>
              <a:ext cx="784221" cy="265612"/>
            </a:xfrm>
            <a:prstGeom prst="rect">
              <a:avLst/>
            </a:prstGeom>
            <a:solidFill>
              <a:sysClr val="window" lastClr="FFFFFF"/>
            </a:solidFill>
            <a:ln w="12700" cap="flat" cmpd="sng" algn="ctr">
              <a:solidFill>
                <a:srgbClr val="706051"/>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dirty="0">
                  <a:ln>
                    <a:noFill/>
                  </a:ln>
                  <a:solidFill>
                    <a:sysClr val="windowText" lastClr="000000"/>
                  </a:solidFill>
                  <a:effectLst/>
                  <a:uLnTx/>
                  <a:uFillTx/>
                  <a:latin typeface="Arial" panose="020B0604020202020204"/>
                  <a:ea typeface="+mn-ea"/>
                  <a:cs typeface="+mn-cs"/>
                </a:rPr>
                <a:t>DEV and UAT configuration on AWS cloud</a:t>
              </a:r>
            </a:p>
          </p:txBody>
        </p:sp>
      </p:grpSp>
      <p:sp>
        <p:nvSpPr>
          <p:cNvPr id="79" name="Rectangle 78">
            <a:extLst>
              <a:ext uri="{FF2B5EF4-FFF2-40B4-BE49-F238E27FC236}">
                <a16:creationId xmlns:a16="http://schemas.microsoft.com/office/drawing/2014/main" id="{A5F0F09A-9AFE-2C43-ED17-6545BA342B92}"/>
              </a:ext>
            </a:extLst>
          </p:cNvPr>
          <p:cNvSpPr/>
          <p:nvPr/>
        </p:nvSpPr>
        <p:spPr>
          <a:xfrm>
            <a:off x="6184578" y="1769413"/>
            <a:ext cx="1190981" cy="385327"/>
          </a:xfrm>
          <a:prstGeom prst="rect">
            <a:avLst/>
          </a:prstGeom>
          <a:noFill/>
          <a:ln w="12700"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B58D2B"/>
                </a:solidFill>
                <a:effectLst/>
                <a:uLnTx/>
                <a:uFillTx/>
                <a:latin typeface="Arial" panose="020B0604020202020204"/>
                <a:ea typeface="+mn-ea"/>
                <a:cs typeface="+mn-cs"/>
              </a:rPr>
              <a:t>DB server (MSSQL)</a:t>
            </a:r>
          </a:p>
          <a:p>
            <a:pPr algn="ctr">
              <a:defRPr/>
            </a:pPr>
            <a:r>
              <a:rPr lang="en-IN" sz="800" b="1" kern="0" dirty="0">
                <a:solidFill>
                  <a:srgbClr val="B58D2B"/>
                </a:solidFill>
              </a:rPr>
              <a:t>EC2 Instance(</a:t>
            </a:r>
            <a:r>
              <a:rPr lang="en-IN" sz="800" dirty="0">
                <a:solidFill>
                  <a:srgbClr val="000000"/>
                </a:solidFill>
              </a:rPr>
              <a:t>Windows</a:t>
            </a:r>
            <a:r>
              <a:rPr lang="en-IN" sz="800" b="1" kern="0" dirty="0">
                <a:solidFill>
                  <a:srgbClr val="B58D2B"/>
                </a:solidFill>
              </a:rPr>
              <a:t>)</a:t>
            </a:r>
            <a:r>
              <a:rPr lang="en-IN" sz="800" dirty="0">
                <a:solidFill>
                  <a:srgbClr val="000000"/>
                </a:solidFill>
              </a:rPr>
              <a:t> Type:- t3.xlarge</a:t>
            </a:r>
            <a:r>
              <a:rPr lang="en-IN" sz="800" b="1" kern="0" dirty="0">
                <a:solidFill>
                  <a:srgbClr val="B58D2B"/>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800" b="1" i="0" u="none" strike="noStrike" kern="0" cap="none" spc="0" normalizeH="0" baseline="0" noProof="0" dirty="0">
              <a:ln>
                <a:noFill/>
              </a:ln>
              <a:solidFill>
                <a:srgbClr val="B58D2B"/>
              </a:solidFill>
              <a:effectLst/>
              <a:uLnTx/>
              <a:uFillTx/>
              <a:latin typeface="Arial" panose="020B0604020202020204"/>
              <a:ea typeface="+mn-ea"/>
              <a:cs typeface="+mn-cs"/>
            </a:endParaRPr>
          </a:p>
        </p:txBody>
      </p:sp>
      <p:pic>
        <p:nvPicPr>
          <p:cNvPr id="80" name="Graphic 79" descr="Remote learning science with solid fill">
            <a:extLst>
              <a:ext uri="{FF2B5EF4-FFF2-40B4-BE49-F238E27FC236}">
                <a16:creationId xmlns:a16="http://schemas.microsoft.com/office/drawing/2014/main" id="{A1A32377-7949-9822-AE9A-CA155C098487}"/>
              </a:ext>
            </a:extLst>
          </p:cNvPr>
          <p:cNvPicPr>
            <a:picLocks/>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75007" y="1586114"/>
            <a:ext cx="576072" cy="576072"/>
          </a:xfrm>
          <a:prstGeom prst="rect">
            <a:avLst/>
          </a:prstGeom>
        </p:spPr>
      </p:pic>
      <p:grpSp>
        <p:nvGrpSpPr>
          <p:cNvPr id="83" name="Group 82">
            <a:extLst>
              <a:ext uri="{FF2B5EF4-FFF2-40B4-BE49-F238E27FC236}">
                <a16:creationId xmlns:a16="http://schemas.microsoft.com/office/drawing/2014/main" id="{068D1CC8-66E0-5B1D-4B30-AD7443EE860C}"/>
              </a:ext>
            </a:extLst>
          </p:cNvPr>
          <p:cNvGrpSpPr/>
          <p:nvPr/>
        </p:nvGrpSpPr>
        <p:grpSpPr>
          <a:xfrm>
            <a:off x="3608636" y="2666845"/>
            <a:ext cx="3766922" cy="366020"/>
            <a:chOff x="3608636" y="2666844"/>
            <a:chExt cx="3138562" cy="839507"/>
          </a:xfrm>
        </p:grpSpPr>
        <p:sp>
          <p:nvSpPr>
            <p:cNvPr id="84" name="Rectangle 83">
              <a:extLst>
                <a:ext uri="{FF2B5EF4-FFF2-40B4-BE49-F238E27FC236}">
                  <a16:creationId xmlns:a16="http://schemas.microsoft.com/office/drawing/2014/main" id="{57653A75-B00E-F2FB-5E53-B90C960E76AD}"/>
                </a:ext>
              </a:extLst>
            </p:cNvPr>
            <p:cNvSpPr/>
            <p:nvPr/>
          </p:nvSpPr>
          <p:spPr>
            <a:xfrm>
              <a:off x="3608636" y="2666844"/>
              <a:ext cx="1069731" cy="812339"/>
            </a:xfrm>
            <a:prstGeom prst="rect">
              <a:avLst/>
            </a:prstGeom>
            <a:solidFill>
              <a:srgbClr val="F5F5F5"/>
            </a:solidFill>
            <a:ln w="12700" cap="flat" cmpd="sng" algn="ctr">
              <a:solidFill>
                <a:sysClr val="window" lastClr="FFFFFF">
                  <a:lumMod val="85000"/>
                </a:sysClr>
              </a:solidFill>
              <a:prstDash val="solid"/>
              <a:miter lim="800000"/>
            </a:ln>
            <a:effectLst/>
          </p:spPr>
          <p:txBody>
            <a:bodyPr rtlCol="0" anchor="ctr"/>
            <a:lstStyle/>
            <a:p>
              <a:pPr lvl="0" algn="ctr">
                <a:defRPr/>
              </a:pPr>
              <a:r>
                <a:rPr kumimoji="0" lang="en-IN" sz="1000" b="0" i="0" u="none" strike="noStrike" kern="0" cap="none" spc="0" normalizeH="0" baseline="0" noProof="0" dirty="0">
                  <a:ln>
                    <a:noFill/>
                  </a:ln>
                  <a:solidFill>
                    <a:prstClr val="black"/>
                  </a:solidFill>
                  <a:effectLst/>
                  <a:uLnTx/>
                  <a:uFillTx/>
                  <a:latin typeface="Arial" panose="020B0604020202020204"/>
                  <a:ea typeface="+mn-ea"/>
                  <a:cs typeface="+mn-cs"/>
                </a:rPr>
                <a:t>Disk separate from OS disk(size-</a:t>
              </a:r>
              <a:r>
                <a:rPr lang="en-IN" sz="1000" dirty="0">
                  <a:solidFill>
                    <a:srgbClr val="000000"/>
                  </a:solidFill>
                </a:rPr>
                <a:t>128 GB)</a:t>
              </a:r>
              <a:endParaRPr kumimoji="0" lang="en-IN" sz="1000" b="0" i="0" u="none" strike="noStrike" kern="0" cap="none" spc="0" normalizeH="0" baseline="0" noProof="0" dirty="0">
                <a:ln>
                  <a:noFill/>
                </a:ln>
                <a:solidFill>
                  <a:prstClr val="black"/>
                </a:solidFill>
                <a:effectLst/>
                <a:uLnTx/>
                <a:uFillTx/>
                <a:latin typeface="Arial" panose="020B0604020202020204"/>
                <a:ea typeface="+mn-ea"/>
                <a:cs typeface="+mn-cs"/>
              </a:endParaRPr>
            </a:p>
          </p:txBody>
        </p:sp>
        <p:sp>
          <p:nvSpPr>
            <p:cNvPr id="85" name="Rectangle 84">
              <a:extLst>
                <a:ext uri="{FF2B5EF4-FFF2-40B4-BE49-F238E27FC236}">
                  <a16:creationId xmlns:a16="http://schemas.microsoft.com/office/drawing/2014/main" id="{B9775C7F-927E-AE21-168C-EDB3CEFCB084}"/>
                </a:ext>
              </a:extLst>
            </p:cNvPr>
            <p:cNvSpPr/>
            <p:nvPr/>
          </p:nvSpPr>
          <p:spPr>
            <a:xfrm>
              <a:off x="5258025" y="2666844"/>
              <a:ext cx="1489173" cy="839507"/>
            </a:xfrm>
            <a:prstGeom prst="rect">
              <a:avLst/>
            </a:prstGeom>
            <a:solidFill>
              <a:srgbClr val="F5F5F5"/>
            </a:solidFill>
            <a:ln w="12700" cap="flat" cmpd="sng" algn="ctr">
              <a:solidFill>
                <a:sysClr val="window" lastClr="FFFFFF">
                  <a:lumMod val="85000"/>
                </a:sysClr>
              </a:solidFill>
              <a:prstDash val="solid"/>
              <a:miter lim="800000"/>
            </a:ln>
            <a:effectLst/>
          </p:spPr>
          <p:txBody>
            <a:bodyPr rtlCol="0" anchor="ctr"/>
            <a:lstStyle/>
            <a:p>
              <a:pPr lvl="0" algn="ctr">
                <a:defRPr/>
              </a:pPr>
              <a:r>
                <a:rPr kumimoji="0" lang="en-IN" sz="1000" b="0" i="0" u="none" strike="noStrike" kern="0" cap="none" spc="0" normalizeH="0" baseline="0" noProof="0" dirty="0">
                  <a:ln>
                    <a:noFill/>
                  </a:ln>
                  <a:solidFill>
                    <a:prstClr val="black"/>
                  </a:solidFill>
                  <a:effectLst/>
                  <a:uLnTx/>
                  <a:uFillTx/>
                  <a:latin typeface="Arial" panose="020B0604020202020204"/>
                  <a:ea typeface="+mn-ea"/>
                  <a:cs typeface="+mn-cs"/>
                </a:rPr>
                <a:t>Disk for DB &amp; logs separate from OS disk(size-</a:t>
              </a:r>
              <a:r>
                <a:rPr lang="en-IN" sz="1000" dirty="0">
                  <a:solidFill>
                    <a:srgbClr val="000000"/>
                  </a:solidFill>
                </a:rPr>
                <a:t>250 GB)</a:t>
              </a:r>
              <a:endParaRPr kumimoji="0" lang="en-IN" sz="1000" b="0" i="0" u="none" strike="noStrike" kern="0" cap="none" spc="0" normalizeH="0" baseline="0" noProof="0" dirty="0">
                <a:ln>
                  <a:noFill/>
                </a:ln>
                <a:solidFill>
                  <a:prstClr val="black"/>
                </a:solidFill>
                <a:effectLst/>
                <a:uLnTx/>
                <a:uFillTx/>
                <a:latin typeface="Arial" panose="020B0604020202020204"/>
                <a:ea typeface="+mn-ea"/>
                <a:cs typeface="+mn-cs"/>
              </a:endParaRPr>
            </a:p>
          </p:txBody>
        </p:sp>
      </p:grpSp>
      <p:sp>
        <p:nvSpPr>
          <p:cNvPr id="86" name="Rectangle 85">
            <a:extLst>
              <a:ext uri="{FF2B5EF4-FFF2-40B4-BE49-F238E27FC236}">
                <a16:creationId xmlns:a16="http://schemas.microsoft.com/office/drawing/2014/main" id="{DB0E95B2-EDB7-B980-208F-DEC32A04246C}"/>
              </a:ext>
            </a:extLst>
          </p:cNvPr>
          <p:cNvSpPr/>
          <p:nvPr/>
        </p:nvSpPr>
        <p:spPr>
          <a:xfrm>
            <a:off x="3191194" y="3692886"/>
            <a:ext cx="5213503" cy="2395483"/>
          </a:xfrm>
          <a:prstGeom prst="rect">
            <a:avLst/>
          </a:prstGeom>
          <a:noFill/>
          <a:ln w="19050" cap="flat" cmpd="sng" algn="ctr">
            <a:solidFill>
              <a:srgbClr val="706051"/>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Arial" panose="020B0604020202020204"/>
              <a:ea typeface="+mn-ea"/>
              <a:cs typeface="+mn-cs"/>
            </a:endParaRPr>
          </a:p>
        </p:txBody>
      </p:sp>
      <p:grpSp>
        <p:nvGrpSpPr>
          <p:cNvPr id="87" name="Group 86">
            <a:extLst>
              <a:ext uri="{FF2B5EF4-FFF2-40B4-BE49-F238E27FC236}">
                <a16:creationId xmlns:a16="http://schemas.microsoft.com/office/drawing/2014/main" id="{BF791021-6F1B-8D71-58D3-72860D7E6B84}"/>
              </a:ext>
            </a:extLst>
          </p:cNvPr>
          <p:cNvGrpSpPr/>
          <p:nvPr/>
        </p:nvGrpSpPr>
        <p:grpSpPr>
          <a:xfrm>
            <a:off x="3159911" y="3273575"/>
            <a:ext cx="5244786" cy="312750"/>
            <a:chOff x="3416411" y="1448928"/>
            <a:chExt cx="1362844" cy="283780"/>
          </a:xfrm>
        </p:grpSpPr>
        <p:cxnSp>
          <p:nvCxnSpPr>
            <p:cNvPr id="88" name="Straight Arrow Connector 87">
              <a:extLst>
                <a:ext uri="{FF2B5EF4-FFF2-40B4-BE49-F238E27FC236}">
                  <a16:creationId xmlns:a16="http://schemas.microsoft.com/office/drawing/2014/main" id="{13D0AB6C-9306-C3E1-5639-79A75C696B8E}"/>
                </a:ext>
              </a:extLst>
            </p:cNvPr>
            <p:cNvCxnSpPr>
              <a:cxnSpLocks/>
            </p:cNvCxnSpPr>
            <p:nvPr/>
          </p:nvCxnSpPr>
          <p:spPr>
            <a:xfrm>
              <a:off x="3416411" y="1564932"/>
              <a:ext cx="1362844" cy="0"/>
            </a:xfrm>
            <a:prstGeom prst="straightConnector1">
              <a:avLst/>
            </a:prstGeom>
            <a:noFill/>
            <a:ln w="6350" cap="flat" cmpd="sng" algn="ctr">
              <a:solidFill>
                <a:srgbClr val="494947"/>
              </a:solidFill>
              <a:prstDash val="solid"/>
              <a:miter lim="800000"/>
              <a:headEnd type="triangle"/>
              <a:tailEnd type="triangle"/>
            </a:ln>
            <a:effectLst/>
          </p:spPr>
        </p:cxnSp>
        <p:sp>
          <p:nvSpPr>
            <p:cNvPr id="89" name="Rectangle 88">
              <a:extLst>
                <a:ext uri="{FF2B5EF4-FFF2-40B4-BE49-F238E27FC236}">
                  <a16:creationId xmlns:a16="http://schemas.microsoft.com/office/drawing/2014/main" id="{296F4E05-1507-49BA-3297-3EE1F559CC10}"/>
                </a:ext>
              </a:extLst>
            </p:cNvPr>
            <p:cNvSpPr/>
            <p:nvPr/>
          </p:nvSpPr>
          <p:spPr>
            <a:xfrm>
              <a:off x="3757031" y="1448928"/>
              <a:ext cx="713853" cy="283780"/>
            </a:xfrm>
            <a:prstGeom prst="rect">
              <a:avLst/>
            </a:prstGeom>
            <a:solidFill>
              <a:sysClr val="window" lastClr="FFFFFF"/>
            </a:solidFill>
            <a:ln w="12700" cap="flat" cmpd="sng" algn="ctr">
              <a:solidFill>
                <a:srgbClr val="706051"/>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dirty="0">
                  <a:ln>
                    <a:noFill/>
                  </a:ln>
                  <a:solidFill>
                    <a:sysClr val="windowText" lastClr="000000"/>
                  </a:solidFill>
                  <a:effectLst/>
                  <a:uLnTx/>
                  <a:uFillTx/>
                  <a:latin typeface="Arial" panose="020B0604020202020204"/>
                  <a:ea typeface="+mn-ea"/>
                  <a:cs typeface="+mn-cs"/>
                </a:rPr>
                <a:t>Prod service on AWS cloud</a:t>
              </a:r>
            </a:p>
          </p:txBody>
        </p:sp>
      </p:grpSp>
      <p:cxnSp>
        <p:nvCxnSpPr>
          <p:cNvPr id="91" name="Connector: Elbow 90">
            <a:extLst>
              <a:ext uri="{FF2B5EF4-FFF2-40B4-BE49-F238E27FC236}">
                <a16:creationId xmlns:a16="http://schemas.microsoft.com/office/drawing/2014/main" id="{0521C23B-080A-0B66-26FB-69DF8F0E23CA}"/>
              </a:ext>
            </a:extLst>
          </p:cNvPr>
          <p:cNvCxnSpPr>
            <a:cxnSpLocks/>
            <a:stCxn id="74" idx="1"/>
            <a:endCxn id="84" idx="1"/>
          </p:cNvCxnSpPr>
          <p:nvPr/>
        </p:nvCxnSpPr>
        <p:spPr>
          <a:xfrm rot="10800000" flipH="1" flipV="1">
            <a:off x="3607730" y="1874149"/>
            <a:ext cx="905" cy="969783"/>
          </a:xfrm>
          <a:prstGeom prst="bentConnector3">
            <a:avLst>
              <a:gd name="adj1" fmla="val -25259669"/>
            </a:avLst>
          </a:prstGeom>
          <a:noFill/>
          <a:ln w="19050" cap="flat" cmpd="sng" algn="ctr">
            <a:solidFill>
              <a:srgbClr val="B58D2B"/>
            </a:solidFill>
            <a:prstDash val="solid"/>
            <a:miter lim="800000"/>
            <a:tailEnd type="triangle"/>
          </a:ln>
          <a:effectLst/>
        </p:spPr>
      </p:cxnSp>
      <p:cxnSp>
        <p:nvCxnSpPr>
          <p:cNvPr id="92" name="Connector: Elbow 91">
            <a:extLst>
              <a:ext uri="{FF2B5EF4-FFF2-40B4-BE49-F238E27FC236}">
                <a16:creationId xmlns:a16="http://schemas.microsoft.com/office/drawing/2014/main" id="{51982EDD-685E-407B-9D85-05877F3E1882}"/>
              </a:ext>
            </a:extLst>
          </p:cNvPr>
          <p:cNvCxnSpPr>
            <a:cxnSpLocks/>
            <a:stCxn id="80" idx="1"/>
            <a:endCxn id="85" idx="1"/>
          </p:cNvCxnSpPr>
          <p:nvPr/>
        </p:nvCxnSpPr>
        <p:spPr>
          <a:xfrm rot="10800000" flipH="1" flipV="1">
            <a:off x="5575007" y="1874149"/>
            <a:ext cx="13236" cy="975705"/>
          </a:xfrm>
          <a:prstGeom prst="bentConnector3">
            <a:avLst>
              <a:gd name="adj1" fmla="val -1727108"/>
            </a:avLst>
          </a:prstGeom>
          <a:noFill/>
          <a:ln w="19050" cap="flat" cmpd="sng" algn="ctr">
            <a:solidFill>
              <a:srgbClr val="B58D2B"/>
            </a:solidFill>
            <a:prstDash val="solid"/>
            <a:miter lim="800000"/>
            <a:tailEnd type="triangle"/>
          </a:ln>
          <a:effectLst/>
        </p:spPr>
      </p:cxnSp>
      <p:grpSp>
        <p:nvGrpSpPr>
          <p:cNvPr id="94" name="Group 93">
            <a:extLst>
              <a:ext uri="{FF2B5EF4-FFF2-40B4-BE49-F238E27FC236}">
                <a16:creationId xmlns:a16="http://schemas.microsoft.com/office/drawing/2014/main" id="{4F75B166-C8A8-4DF9-8040-F06D846AA3D8}"/>
              </a:ext>
            </a:extLst>
          </p:cNvPr>
          <p:cNvGrpSpPr/>
          <p:nvPr/>
        </p:nvGrpSpPr>
        <p:grpSpPr>
          <a:xfrm>
            <a:off x="3625312" y="3773269"/>
            <a:ext cx="3780902" cy="1359222"/>
            <a:chOff x="3607731" y="3731784"/>
            <a:chExt cx="3780902" cy="1359222"/>
          </a:xfrm>
        </p:grpSpPr>
        <p:pic>
          <p:nvPicPr>
            <p:cNvPr id="97" name="Graphic 96" descr="Remote learning science with solid fill">
              <a:extLst>
                <a:ext uri="{FF2B5EF4-FFF2-40B4-BE49-F238E27FC236}">
                  <a16:creationId xmlns:a16="http://schemas.microsoft.com/office/drawing/2014/main" id="{25C2A31C-59E5-BA21-AF9C-781FC8A354CF}"/>
                </a:ext>
              </a:extLst>
            </p:cNvPr>
            <p:cNvPicPr>
              <a:picLocks/>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07731" y="3731784"/>
              <a:ext cx="576072" cy="576072"/>
            </a:xfrm>
            <a:prstGeom prst="rect">
              <a:avLst/>
            </a:prstGeom>
          </p:spPr>
        </p:pic>
        <p:pic>
          <p:nvPicPr>
            <p:cNvPr id="99" name="Graphic 98" descr="Remote learning science with solid fill">
              <a:extLst>
                <a:ext uri="{FF2B5EF4-FFF2-40B4-BE49-F238E27FC236}">
                  <a16:creationId xmlns:a16="http://schemas.microsoft.com/office/drawing/2014/main" id="{52F5E8C4-17DF-30A5-1157-711E0EA85D40}"/>
                </a:ext>
              </a:extLst>
            </p:cNvPr>
            <p:cNvPicPr>
              <a:picLocks/>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75007" y="3731784"/>
              <a:ext cx="576072" cy="576072"/>
            </a:xfrm>
            <a:prstGeom prst="rect">
              <a:avLst/>
            </a:prstGeom>
          </p:spPr>
        </p:pic>
        <p:grpSp>
          <p:nvGrpSpPr>
            <p:cNvPr id="102" name="Group 101">
              <a:extLst>
                <a:ext uri="{FF2B5EF4-FFF2-40B4-BE49-F238E27FC236}">
                  <a16:creationId xmlns:a16="http://schemas.microsoft.com/office/drawing/2014/main" id="{54697EB9-D0D8-1F5C-BDB8-3D85E28F5BCE}"/>
                </a:ext>
              </a:extLst>
            </p:cNvPr>
            <p:cNvGrpSpPr/>
            <p:nvPr/>
          </p:nvGrpSpPr>
          <p:grpSpPr>
            <a:xfrm>
              <a:off x="3608635" y="4724986"/>
              <a:ext cx="3779998" cy="366020"/>
              <a:chOff x="3608635" y="2666844"/>
              <a:chExt cx="3149457" cy="839507"/>
            </a:xfrm>
          </p:grpSpPr>
          <p:sp>
            <p:nvSpPr>
              <p:cNvPr id="105" name="Rectangle 104">
                <a:extLst>
                  <a:ext uri="{FF2B5EF4-FFF2-40B4-BE49-F238E27FC236}">
                    <a16:creationId xmlns:a16="http://schemas.microsoft.com/office/drawing/2014/main" id="{0EBFE862-46CB-772F-DB4B-40D3E9299BB6}"/>
                  </a:ext>
                </a:extLst>
              </p:cNvPr>
              <p:cNvSpPr/>
              <p:nvPr/>
            </p:nvSpPr>
            <p:spPr>
              <a:xfrm>
                <a:off x="3608635" y="2666844"/>
                <a:ext cx="1173136" cy="812339"/>
              </a:xfrm>
              <a:prstGeom prst="rect">
                <a:avLst/>
              </a:prstGeom>
              <a:solidFill>
                <a:srgbClr val="F5F5F5"/>
              </a:solidFill>
              <a:ln w="12700" cap="flat" cmpd="sng" algn="ctr">
                <a:solidFill>
                  <a:sysClr val="window" lastClr="FFFFFF">
                    <a:lumMod val="85000"/>
                  </a:sysClr>
                </a:solidFill>
                <a:prstDash val="solid"/>
                <a:miter lim="800000"/>
              </a:ln>
              <a:effectLst/>
            </p:spPr>
            <p:txBody>
              <a:bodyPr rtlCol="0" anchor="ctr"/>
              <a:lstStyle/>
              <a:p>
                <a:pPr lvl="0" algn="ctr">
                  <a:defRPr/>
                </a:pPr>
                <a:r>
                  <a:rPr kumimoji="0" lang="en-IN" sz="1000" b="0" i="0" u="none" strike="noStrike" kern="0" cap="none" spc="0" normalizeH="0" baseline="0" noProof="0" dirty="0">
                    <a:ln>
                      <a:noFill/>
                    </a:ln>
                    <a:solidFill>
                      <a:prstClr val="black"/>
                    </a:solidFill>
                    <a:effectLst/>
                    <a:uLnTx/>
                    <a:uFillTx/>
                    <a:latin typeface="Arial" panose="020B0604020202020204"/>
                    <a:ea typeface="+mn-ea"/>
                    <a:cs typeface="+mn-cs"/>
                  </a:rPr>
                  <a:t>Disk separate from OS disk</a:t>
                </a:r>
                <a:r>
                  <a:rPr lang="en-IN" sz="1000" kern="0" dirty="0">
                    <a:solidFill>
                      <a:prstClr val="black"/>
                    </a:solidFill>
                    <a:latin typeface="Arial" panose="020B0604020202020204"/>
                  </a:rPr>
                  <a:t>(size-</a:t>
                </a:r>
                <a:r>
                  <a:rPr lang="en-IN" sz="1000" dirty="0">
                    <a:solidFill>
                      <a:srgbClr val="000000"/>
                    </a:solidFill>
                  </a:rPr>
                  <a:t>250 GB)</a:t>
                </a:r>
                <a:endParaRPr kumimoji="0" lang="en-IN" sz="1000" b="0" i="0" u="none" strike="noStrike" kern="0" cap="none" spc="0" normalizeH="0" baseline="0" noProof="0" dirty="0">
                  <a:ln>
                    <a:noFill/>
                  </a:ln>
                  <a:solidFill>
                    <a:prstClr val="black"/>
                  </a:solidFill>
                  <a:effectLst/>
                  <a:uLnTx/>
                  <a:uFillTx/>
                  <a:latin typeface="Arial" panose="020B0604020202020204"/>
                  <a:ea typeface="+mn-ea"/>
                  <a:cs typeface="+mn-cs"/>
                </a:endParaRPr>
              </a:p>
            </p:txBody>
          </p:sp>
          <p:sp>
            <p:nvSpPr>
              <p:cNvPr id="106" name="Rectangle 105">
                <a:extLst>
                  <a:ext uri="{FF2B5EF4-FFF2-40B4-BE49-F238E27FC236}">
                    <a16:creationId xmlns:a16="http://schemas.microsoft.com/office/drawing/2014/main" id="{5E9ECAEB-78DB-7909-BB1E-D4B9D580B71E}"/>
                  </a:ext>
                </a:extLst>
              </p:cNvPr>
              <p:cNvSpPr/>
              <p:nvPr/>
            </p:nvSpPr>
            <p:spPr>
              <a:xfrm>
                <a:off x="5258026" y="2666844"/>
                <a:ext cx="1500066" cy="839507"/>
              </a:xfrm>
              <a:prstGeom prst="rect">
                <a:avLst/>
              </a:prstGeom>
              <a:solidFill>
                <a:srgbClr val="F5F5F5"/>
              </a:solidFill>
              <a:ln w="12700" cap="flat" cmpd="sng" algn="ctr">
                <a:solidFill>
                  <a:sysClr val="window" lastClr="FFFFFF">
                    <a:lumMod val="85000"/>
                  </a:sysClr>
                </a:solidFill>
                <a:prstDash val="solid"/>
                <a:miter lim="800000"/>
              </a:ln>
              <a:effectLst/>
            </p:spPr>
            <p:txBody>
              <a:bodyPr rtlCol="0" anchor="ctr"/>
              <a:lstStyle/>
              <a:p>
                <a:pPr lvl="0" algn="ctr">
                  <a:defRPr/>
                </a:pPr>
                <a:r>
                  <a:rPr kumimoji="0" lang="en-IN" sz="1000" b="0" i="0" u="none" strike="noStrike" kern="0" cap="none" spc="0" normalizeH="0" baseline="0" noProof="0" dirty="0">
                    <a:ln>
                      <a:noFill/>
                    </a:ln>
                    <a:solidFill>
                      <a:prstClr val="black"/>
                    </a:solidFill>
                    <a:effectLst/>
                    <a:uLnTx/>
                    <a:uFillTx/>
                    <a:latin typeface="Arial" panose="020B0604020202020204"/>
                    <a:ea typeface="+mn-ea"/>
                    <a:cs typeface="+mn-cs"/>
                  </a:rPr>
                  <a:t>Disk for DB &amp; logs separate from OS disk(size-</a:t>
                </a:r>
                <a:r>
                  <a:rPr lang="en-IN" sz="1000" dirty="0">
                    <a:solidFill>
                      <a:srgbClr val="000000"/>
                    </a:solidFill>
                  </a:rPr>
                  <a:t>500 GB)</a:t>
                </a:r>
                <a:endParaRPr kumimoji="0" lang="en-IN" sz="1000" b="0" i="0" u="none" strike="noStrike" kern="0" cap="none" spc="0" normalizeH="0" baseline="0" noProof="0" dirty="0">
                  <a:ln>
                    <a:noFill/>
                  </a:ln>
                  <a:solidFill>
                    <a:prstClr val="black"/>
                  </a:solidFill>
                  <a:effectLst/>
                  <a:uLnTx/>
                  <a:uFillTx/>
                  <a:latin typeface="Arial" panose="020B0604020202020204"/>
                  <a:ea typeface="+mn-ea"/>
                  <a:cs typeface="+mn-cs"/>
                </a:endParaRPr>
              </a:p>
            </p:txBody>
          </p:sp>
        </p:grpSp>
        <p:cxnSp>
          <p:nvCxnSpPr>
            <p:cNvPr id="103" name="Connector: Elbow 102">
              <a:extLst>
                <a:ext uri="{FF2B5EF4-FFF2-40B4-BE49-F238E27FC236}">
                  <a16:creationId xmlns:a16="http://schemas.microsoft.com/office/drawing/2014/main" id="{E79F0A62-B492-E17B-D99D-1300B51EE42E}"/>
                </a:ext>
              </a:extLst>
            </p:cNvPr>
            <p:cNvCxnSpPr>
              <a:cxnSpLocks/>
              <a:stCxn id="99" idx="1"/>
              <a:endCxn id="106" idx="1"/>
            </p:cNvCxnSpPr>
            <p:nvPr/>
          </p:nvCxnSpPr>
          <p:spPr>
            <a:xfrm rot="10800000" flipH="1" flipV="1">
              <a:off x="5575006" y="4019820"/>
              <a:ext cx="13237" cy="888176"/>
            </a:xfrm>
            <a:prstGeom prst="bentConnector3">
              <a:avLst>
                <a:gd name="adj1" fmla="val -1726977"/>
              </a:avLst>
            </a:prstGeom>
            <a:noFill/>
            <a:ln w="19050" cap="flat" cmpd="sng" algn="ctr">
              <a:solidFill>
                <a:srgbClr val="B58D2B"/>
              </a:solidFill>
              <a:prstDash val="solid"/>
              <a:miter lim="800000"/>
              <a:tailEnd type="triangle"/>
            </a:ln>
            <a:effectLst/>
          </p:spPr>
        </p:cxnSp>
        <p:cxnSp>
          <p:nvCxnSpPr>
            <p:cNvPr id="104" name="Connector: Elbow 103">
              <a:extLst>
                <a:ext uri="{FF2B5EF4-FFF2-40B4-BE49-F238E27FC236}">
                  <a16:creationId xmlns:a16="http://schemas.microsoft.com/office/drawing/2014/main" id="{C2A37013-ABB6-D49B-9CD5-4D9538D7AC9A}"/>
                </a:ext>
              </a:extLst>
            </p:cNvPr>
            <p:cNvCxnSpPr>
              <a:cxnSpLocks/>
              <a:stCxn id="97" idx="1"/>
              <a:endCxn id="105" idx="1"/>
            </p:cNvCxnSpPr>
            <p:nvPr/>
          </p:nvCxnSpPr>
          <p:spPr>
            <a:xfrm rot="10800000" flipH="1" flipV="1">
              <a:off x="3607731" y="4019820"/>
              <a:ext cx="904" cy="882254"/>
            </a:xfrm>
            <a:prstGeom prst="bentConnector3">
              <a:avLst>
                <a:gd name="adj1" fmla="val -25287611"/>
              </a:avLst>
            </a:prstGeom>
            <a:noFill/>
            <a:ln w="19050" cap="flat" cmpd="sng" algn="ctr">
              <a:solidFill>
                <a:srgbClr val="B58D2B"/>
              </a:solidFill>
              <a:prstDash val="solid"/>
              <a:miter lim="800000"/>
              <a:tailEnd type="triangle"/>
            </a:ln>
            <a:effectLst/>
          </p:spPr>
        </p:cxnSp>
      </p:grpSp>
      <p:sp>
        <p:nvSpPr>
          <p:cNvPr id="110" name="Rectangle 109">
            <a:extLst>
              <a:ext uri="{FF2B5EF4-FFF2-40B4-BE49-F238E27FC236}">
                <a16:creationId xmlns:a16="http://schemas.microsoft.com/office/drawing/2014/main" id="{2357B88E-7F40-9688-2E41-F331048CDFC5}"/>
              </a:ext>
            </a:extLst>
          </p:cNvPr>
          <p:cNvSpPr/>
          <p:nvPr/>
        </p:nvSpPr>
        <p:spPr>
          <a:xfrm>
            <a:off x="348074" y="1016033"/>
            <a:ext cx="1526454" cy="638445"/>
          </a:xfrm>
          <a:prstGeom prst="rect">
            <a:avLst/>
          </a:prstGeom>
          <a:solidFill>
            <a:sysClr val="window" lastClr="FFFFFF">
              <a:lumMod val="95000"/>
            </a:sysClr>
          </a:solidFill>
          <a:ln w="12700" cap="flat" cmpd="sng" algn="ctr">
            <a:solidFill>
              <a:srgbClr val="49494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err="1">
                <a:ln>
                  <a:noFill/>
                </a:ln>
                <a:solidFill>
                  <a:prstClr val="black"/>
                </a:solidFill>
                <a:effectLst/>
                <a:uLnTx/>
                <a:uFillTx/>
                <a:latin typeface="Arial" panose="020B0604020202020204"/>
                <a:ea typeface="+mn-ea"/>
                <a:cs typeface="+mn-cs"/>
              </a:rPr>
              <a:t>Acies</a:t>
            </a:r>
            <a:r>
              <a:rPr kumimoji="0" lang="en-IN" sz="1100" b="1" i="0" u="none" strike="noStrike" kern="0" cap="none" spc="0" normalizeH="0" baseline="0" noProof="0" dirty="0">
                <a:ln>
                  <a:noFill/>
                </a:ln>
                <a:solidFill>
                  <a:prstClr val="black"/>
                </a:solidFill>
                <a:effectLst/>
                <a:uLnTx/>
                <a:uFillTx/>
                <a:latin typeface="Arial" panose="020B0604020202020204"/>
                <a:ea typeface="+mn-ea"/>
                <a:cs typeface="+mn-cs"/>
              </a:rPr>
              <a:t> Pipeline Dev</a:t>
            </a:r>
            <a:r>
              <a:rPr lang="en-IN" sz="1100" b="1" kern="0" dirty="0">
                <a:solidFill>
                  <a:prstClr val="black"/>
                </a:solidFill>
                <a:latin typeface="Arial" panose="020B0604020202020204"/>
              </a:rPr>
              <a:t>o</a:t>
            </a:r>
            <a:r>
              <a:rPr kumimoji="0" lang="en-IN" sz="1100" b="1" i="0" u="none" strike="noStrike" kern="0" cap="none" spc="0" normalizeH="0" baseline="0" noProof="0" dirty="0" err="1">
                <a:ln>
                  <a:noFill/>
                </a:ln>
                <a:solidFill>
                  <a:prstClr val="black"/>
                </a:solidFill>
                <a:effectLst/>
                <a:uLnTx/>
                <a:uFillTx/>
                <a:latin typeface="Arial" panose="020B0604020202020204"/>
                <a:ea typeface="+mn-ea"/>
                <a:cs typeface="+mn-cs"/>
              </a:rPr>
              <a:t>ps</a:t>
            </a:r>
            <a:r>
              <a:rPr kumimoji="0" lang="en-IN" sz="1100" b="1" i="0" u="none" strike="noStrike" kern="0" cap="none" spc="0" normalizeH="0" baseline="0" noProof="0" dirty="0">
                <a:ln>
                  <a:noFill/>
                </a:ln>
                <a:solidFill>
                  <a:prstClr val="black"/>
                </a:solidFill>
                <a:effectLst/>
                <a:uLnTx/>
                <a:uFillTx/>
                <a:latin typeface="Arial" panose="020B0604020202020204"/>
                <a:ea typeface="+mn-ea"/>
                <a:cs typeface="+mn-cs"/>
              </a:rPr>
              <a:t> access</a:t>
            </a:r>
          </a:p>
        </p:txBody>
      </p:sp>
      <p:cxnSp>
        <p:nvCxnSpPr>
          <p:cNvPr id="111" name="Straight Arrow Connector 110">
            <a:extLst>
              <a:ext uri="{FF2B5EF4-FFF2-40B4-BE49-F238E27FC236}">
                <a16:creationId xmlns:a16="http://schemas.microsoft.com/office/drawing/2014/main" id="{49375388-7BDB-4463-6A63-75BA6E842C25}"/>
              </a:ext>
            </a:extLst>
          </p:cNvPr>
          <p:cNvCxnSpPr>
            <a:cxnSpLocks/>
          </p:cNvCxnSpPr>
          <p:nvPr/>
        </p:nvCxnSpPr>
        <p:spPr>
          <a:xfrm flipV="1">
            <a:off x="462581" y="5690430"/>
            <a:ext cx="5127" cy="545672"/>
          </a:xfrm>
          <a:prstGeom prst="straightConnector1">
            <a:avLst/>
          </a:prstGeom>
          <a:noFill/>
          <a:ln w="38100" cap="flat" cmpd="sng" algn="ctr">
            <a:solidFill>
              <a:srgbClr val="B58D2B">
                <a:lumMod val="50000"/>
              </a:srgbClr>
            </a:solidFill>
            <a:prstDash val="solid"/>
            <a:miter lim="800000"/>
            <a:headEnd type="triangle"/>
            <a:tailEnd type="triangle"/>
          </a:ln>
          <a:effectLst/>
        </p:spPr>
      </p:cxnSp>
      <p:cxnSp>
        <p:nvCxnSpPr>
          <p:cNvPr id="2" name="Connector: Elbow 1">
            <a:extLst>
              <a:ext uri="{FF2B5EF4-FFF2-40B4-BE49-F238E27FC236}">
                <a16:creationId xmlns:a16="http://schemas.microsoft.com/office/drawing/2014/main" id="{5F1BA21B-44B2-903C-E551-E50E85CCC706}"/>
              </a:ext>
            </a:extLst>
          </p:cNvPr>
          <p:cNvCxnSpPr>
            <a:cxnSpLocks/>
          </p:cNvCxnSpPr>
          <p:nvPr/>
        </p:nvCxnSpPr>
        <p:spPr>
          <a:xfrm>
            <a:off x="1874528" y="1310495"/>
            <a:ext cx="1777521" cy="403029"/>
          </a:xfrm>
          <a:prstGeom prst="bentConnector3">
            <a:avLst>
              <a:gd name="adj1" fmla="val 37830"/>
            </a:avLst>
          </a:prstGeom>
          <a:noFill/>
          <a:ln w="38100" cap="flat" cmpd="sng" algn="ctr">
            <a:solidFill>
              <a:srgbClr val="B58D2B">
                <a:lumMod val="50000"/>
              </a:srgbClr>
            </a:solidFill>
            <a:prstDash val="solid"/>
            <a:miter lim="800000"/>
            <a:headEnd type="triangle"/>
            <a:tailEnd type="triangle"/>
          </a:ln>
          <a:effectLst/>
        </p:spPr>
      </p:cxnSp>
      <p:sp>
        <p:nvSpPr>
          <p:cNvPr id="4" name="Rectangle 3">
            <a:extLst>
              <a:ext uri="{FF2B5EF4-FFF2-40B4-BE49-F238E27FC236}">
                <a16:creationId xmlns:a16="http://schemas.microsoft.com/office/drawing/2014/main" id="{E7B96ECB-0C9A-E52A-1AE8-3C7BB637F5E0}"/>
              </a:ext>
            </a:extLst>
          </p:cNvPr>
          <p:cNvSpPr/>
          <p:nvPr/>
        </p:nvSpPr>
        <p:spPr>
          <a:xfrm>
            <a:off x="3205379" y="1156143"/>
            <a:ext cx="1003201" cy="187920"/>
          </a:xfrm>
          <a:prstGeom prst="rect">
            <a:avLst/>
          </a:prstGeom>
          <a:solidFill>
            <a:sysClr val="window" lastClr="FFFFFF"/>
          </a:solidFill>
          <a:ln w="12700" cap="flat" cmpd="sng" algn="ctr">
            <a:solidFill>
              <a:srgbClr val="706051"/>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ysClr val="windowText" lastClr="000000"/>
                </a:solidFill>
                <a:effectLst/>
                <a:uLnTx/>
                <a:uFillTx/>
                <a:latin typeface="Arial" panose="020B0604020202020204"/>
                <a:ea typeface="+mn-ea"/>
                <a:cs typeface="+mn-cs"/>
              </a:rPr>
              <a:t>VPC-UAT</a:t>
            </a:r>
            <a:endParaRPr kumimoji="0" lang="en-IN" sz="1000" b="1" i="0" u="none" strike="noStrike" kern="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CE18274E-3668-9488-57D3-78EA91B88D2E}"/>
              </a:ext>
            </a:extLst>
          </p:cNvPr>
          <p:cNvSpPr/>
          <p:nvPr/>
        </p:nvSpPr>
        <p:spPr>
          <a:xfrm>
            <a:off x="3224416" y="3577871"/>
            <a:ext cx="1003201" cy="187920"/>
          </a:xfrm>
          <a:prstGeom prst="rect">
            <a:avLst/>
          </a:prstGeom>
          <a:solidFill>
            <a:sysClr val="window" lastClr="FFFFFF"/>
          </a:solidFill>
          <a:ln w="12700" cap="flat" cmpd="sng" algn="ctr">
            <a:solidFill>
              <a:srgbClr val="706051"/>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ysClr val="windowText" lastClr="000000"/>
                </a:solidFill>
                <a:effectLst/>
                <a:uLnTx/>
                <a:uFillTx/>
                <a:latin typeface="Arial" panose="020B0604020202020204"/>
                <a:ea typeface="+mn-ea"/>
                <a:cs typeface="+mn-cs"/>
              </a:rPr>
              <a:t>VPC-Prod</a:t>
            </a:r>
            <a:endParaRPr kumimoji="0" lang="en-IN" sz="1000" b="1" i="0" u="none" strike="noStrike" kern="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32BBF2CF-1DDE-3F1A-323B-4236C4A8D0FE}"/>
              </a:ext>
            </a:extLst>
          </p:cNvPr>
          <p:cNvSpPr/>
          <p:nvPr/>
        </p:nvSpPr>
        <p:spPr>
          <a:xfrm rot="16200000">
            <a:off x="2622630" y="2061023"/>
            <a:ext cx="813604" cy="472598"/>
          </a:xfrm>
          <a:prstGeom prst="rect">
            <a:avLst/>
          </a:prstGeom>
          <a:solidFill>
            <a:sysClr val="window" lastClr="FFFFFF"/>
          </a:solidFill>
          <a:ln w="12700" cap="flat" cmpd="sng" algn="ctr">
            <a:solidFill>
              <a:srgbClr val="706051"/>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latin typeface="Arial" panose="020B0604020202020204"/>
                <a:ea typeface="+mn-ea"/>
                <a:cs typeface="+mn-cs"/>
              </a:rPr>
              <a:t>SG-app-UAT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0" dirty="0" err="1">
                <a:solidFill>
                  <a:sysClr val="windowText" lastClr="000000"/>
                </a:solidFill>
                <a:latin typeface="Arial" panose="020B0604020202020204"/>
              </a:rPr>
              <a:t>Rdp</a:t>
            </a:r>
            <a:r>
              <a:rPr lang="en-US" sz="800" b="1" kern="0" dirty="0">
                <a:solidFill>
                  <a:sysClr val="windowText" lastClr="000000"/>
                </a:solidFill>
                <a:latin typeface="Arial" panose="020B0604020202020204"/>
              </a:rPr>
              <a:t>/ssh from sg-</a:t>
            </a:r>
            <a:r>
              <a:rPr lang="en-US" sz="800" b="1" kern="0" dirty="0" err="1">
                <a:solidFill>
                  <a:sysClr val="windowText" lastClr="000000"/>
                </a:solidFill>
                <a:latin typeface="Arial" panose="020B0604020202020204"/>
              </a:rPr>
              <a:t>jumpbox</a:t>
            </a:r>
            <a:endParaRPr kumimoji="0" lang="en-IN" sz="800" b="1" i="0" u="none" strike="noStrike" kern="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C8C554DC-D617-9B0C-0B05-41CBBD2FFE40}"/>
              </a:ext>
            </a:extLst>
          </p:cNvPr>
          <p:cNvSpPr/>
          <p:nvPr/>
        </p:nvSpPr>
        <p:spPr>
          <a:xfrm>
            <a:off x="3343595" y="1557203"/>
            <a:ext cx="1985890" cy="981307"/>
          </a:xfrm>
          <a:prstGeom prst="rect">
            <a:avLst/>
          </a:prstGeom>
          <a:noFill/>
          <a:ln w="19050" cap="flat" cmpd="sng" algn="ctr">
            <a:solidFill>
              <a:srgbClr val="706051"/>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accent5">
                  <a:lumMod val="60000"/>
                  <a:lumOff val="40000"/>
                </a:schemeClr>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6E00110B-FC89-E6E6-6DCD-2E477892F928}"/>
              </a:ext>
            </a:extLst>
          </p:cNvPr>
          <p:cNvSpPr/>
          <p:nvPr/>
        </p:nvSpPr>
        <p:spPr>
          <a:xfrm>
            <a:off x="4236148" y="1446693"/>
            <a:ext cx="724051" cy="153190"/>
          </a:xfrm>
          <a:prstGeom prst="rect">
            <a:avLst/>
          </a:prstGeom>
          <a:solidFill>
            <a:sysClr val="window" lastClr="FFFFFF"/>
          </a:solidFill>
          <a:ln w="12700" cap="flat" cmpd="sng" algn="ctr">
            <a:solidFill>
              <a:srgbClr val="706051"/>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latin typeface="Arial" panose="020B0604020202020204"/>
                <a:ea typeface="+mn-ea"/>
                <a:cs typeface="+mn-cs"/>
              </a:rPr>
              <a:t>Subnet-1</a:t>
            </a:r>
            <a:endParaRPr kumimoji="0" lang="en-IN" sz="1000" b="1" i="0" u="none" strike="noStrike" kern="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367D6F00-1D2E-2244-31E5-24A5B24393C5}"/>
              </a:ext>
            </a:extLst>
          </p:cNvPr>
          <p:cNvSpPr/>
          <p:nvPr/>
        </p:nvSpPr>
        <p:spPr>
          <a:xfrm>
            <a:off x="5585629" y="1582685"/>
            <a:ext cx="1985890" cy="981307"/>
          </a:xfrm>
          <a:prstGeom prst="rect">
            <a:avLst/>
          </a:prstGeom>
          <a:noFill/>
          <a:ln w="19050" cap="flat" cmpd="sng" algn="ctr">
            <a:solidFill>
              <a:srgbClr val="706051"/>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accent5">
                  <a:lumMod val="60000"/>
                  <a:lumOff val="40000"/>
                </a:schemeClr>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45958A45-C9AC-B221-A9DF-0D7CB653DC9F}"/>
              </a:ext>
            </a:extLst>
          </p:cNvPr>
          <p:cNvSpPr/>
          <p:nvPr/>
        </p:nvSpPr>
        <p:spPr>
          <a:xfrm>
            <a:off x="6409172" y="1468467"/>
            <a:ext cx="724051" cy="153190"/>
          </a:xfrm>
          <a:prstGeom prst="rect">
            <a:avLst/>
          </a:prstGeom>
          <a:solidFill>
            <a:sysClr val="window" lastClr="FFFFFF"/>
          </a:solidFill>
          <a:ln w="12700" cap="flat" cmpd="sng" algn="ctr">
            <a:solidFill>
              <a:srgbClr val="706051"/>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latin typeface="Arial" panose="020B0604020202020204"/>
                <a:ea typeface="+mn-ea"/>
                <a:cs typeface="+mn-cs"/>
              </a:rPr>
              <a:t>Subnet-2</a:t>
            </a:r>
            <a:endParaRPr kumimoji="0" lang="en-IN" sz="1000" b="1" i="0" u="none" strike="noStrike" kern="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67A163E3-1F3E-98C4-BCA5-3BBBBDB2B249}"/>
              </a:ext>
            </a:extLst>
          </p:cNvPr>
          <p:cNvSpPr/>
          <p:nvPr/>
        </p:nvSpPr>
        <p:spPr>
          <a:xfrm>
            <a:off x="3432587" y="3810874"/>
            <a:ext cx="1741143" cy="814849"/>
          </a:xfrm>
          <a:prstGeom prst="rect">
            <a:avLst/>
          </a:prstGeom>
          <a:noFill/>
          <a:ln w="19050" cap="flat" cmpd="sng" algn="ctr">
            <a:solidFill>
              <a:srgbClr val="706051"/>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accent5">
                  <a:lumMod val="60000"/>
                  <a:lumOff val="40000"/>
                </a:schemeClr>
              </a:solidFill>
              <a:effectLst/>
              <a:uLnTx/>
              <a:uFillTx/>
              <a:latin typeface="Arial" panose="020B0604020202020204"/>
              <a:ea typeface="+mn-ea"/>
              <a:cs typeface="+mn-cs"/>
            </a:endParaRPr>
          </a:p>
        </p:txBody>
      </p:sp>
      <p:sp>
        <p:nvSpPr>
          <p:cNvPr id="25" name="Rectangle 24">
            <a:extLst>
              <a:ext uri="{FF2B5EF4-FFF2-40B4-BE49-F238E27FC236}">
                <a16:creationId xmlns:a16="http://schemas.microsoft.com/office/drawing/2014/main" id="{FAC784CB-1FF9-CD24-3A45-F6356C0B5510}"/>
              </a:ext>
            </a:extLst>
          </p:cNvPr>
          <p:cNvSpPr/>
          <p:nvPr/>
        </p:nvSpPr>
        <p:spPr>
          <a:xfrm>
            <a:off x="4325140" y="3700364"/>
            <a:ext cx="634817" cy="127205"/>
          </a:xfrm>
          <a:prstGeom prst="rect">
            <a:avLst/>
          </a:prstGeom>
          <a:solidFill>
            <a:sysClr val="window" lastClr="FFFFFF"/>
          </a:solidFill>
          <a:ln w="12700" cap="flat" cmpd="sng" algn="ctr">
            <a:solidFill>
              <a:srgbClr val="706051"/>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latin typeface="Arial" panose="020B0604020202020204"/>
                <a:ea typeface="+mn-ea"/>
                <a:cs typeface="+mn-cs"/>
              </a:rPr>
              <a:t>Subnet-3</a:t>
            </a:r>
            <a:endParaRPr kumimoji="0" lang="en-IN" sz="1000" b="1" i="0" u="none" strike="noStrike" kern="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26" name="Rectangle 25">
            <a:extLst>
              <a:ext uri="{FF2B5EF4-FFF2-40B4-BE49-F238E27FC236}">
                <a16:creationId xmlns:a16="http://schemas.microsoft.com/office/drawing/2014/main" id="{82FD01C3-C2D1-D3E4-4E64-0A4C1BF1D1B9}"/>
              </a:ext>
            </a:extLst>
          </p:cNvPr>
          <p:cNvSpPr/>
          <p:nvPr/>
        </p:nvSpPr>
        <p:spPr>
          <a:xfrm>
            <a:off x="5600012" y="3810874"/>
            <a:ext cx="1741143" cy="814849"/>
          </a:xfrm>
          <a:prstGeom prst="rect">
            <a:avLst/>
          </a:prstGeom>
          <a:noFill/>
          <a:ln w="19050" cap="flat" cmpd="sng" algn="ctr">
            <a:solidFill>
              <a:srgbClr val="706051"/>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chemeClr val="accent5">
                  <a:lumMod val="60000"/>
                  <a:lumOff val="40000"/>
                </a:schemeClr>
              </a:solidFill>
              <a:effectLst/>
              <a:uLnTx/>
              <a:uFillTx/>
              <a:latin typeface="Arial" panose="020B0604020202020204"/>
              <a:ea typeface="+mn-ea"/>
              <a:cs typeface="+mn-cs"/>
            </a:endParaRPr>
          </a:p>
        </p:txBody>
      </p:sp>
      <p:sp>
        <p:nvSpPr>
          <p:cNvPr id="27" name="Rectangle 26">
            <a:extLst>
              <a:ext uri="{FF2B5EF4-FFF2-40B4-BE49-F238E27FC236}">
                <a16:creationId xmlns:a16="http://schemas.microsoft.com/office/drawing/2014/main" id="{DB1DCAE9-241B-E8DD-BCBC-239CA272A6F3}"/>
              </a:ext>
            </a:extLst>
          </p:cNvPr>
          <p:cNvSpPr/>
          <p:nvPr/>
        </p:nvSpPr>
        <p:spPr>
          <a:xfrm>
            <a:off x="6492565" y="3700364"/>
            <a:ext cx="634817" cy="127205"/>
          </a:xfrm>
          <a:prstGeom prst="rect">
            <a:avLst/>
          </a:prstGeom>
          <a:solidFill>
            <a:sysClr val="window" lastClr="FFFFFF"/>
          </a:solidFill>
          <a:ln w="12700" cap="flat" cmpd="sng" algn="ctr">
            <a:solidFill>
              <a:srgbClr val="706051"/>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latin typeface="Arial" panose="020B0604020202020204"/>
                <a:ea typeface="+mn-ea"/>
                <a:cs typeface="+mn-cs"/>
              </a:rPr>
              <a:t>Subnet-4</a:t>
            </a:r>
            <a:endParaRPr kumimoji="0" lang="en-IN" sz="1000" b="1" i="0" u="none" strike="noStrike" kern="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448EB0AC-CBD1-8F44-E875-A3144126F775}"/>
              </a:ext>
            </a:extLst>
          </p:cNvPr>
          <p:cNvSpPr/>
          <p:nvPr/>
        </p:nvSpPr>
        <p:spPr>
          <a:xfrm rot="16200000">
            <a:off x="2611976" y="4674472"/>
            <a:ext cx="813604" cy="472598"/>
          </a:xfrm>
          <a:prstGeom prst="rect">
            <a:avLst/>
          </a:prstGeom>
          <a:solidFill>
            <a:sysClr val="window" lastClr="FFFFFF"/>
          </a:solidFill>
          <a:ln w="12700" cap="flat" cmpd="sng" algn="ctr">
            <a:solidFill>
              <a:srgbClr val="706051"/>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ysClr val="windowText" lastClr="000000"/>
                </a:solidFill>
                <a:effectLst/>
                <a:uLnTx/>
                <a:uFillTx/>
                <a:latin typeface="Arial" panose="020B0604020202020204"/>
                <a:ea typeface="+mn-ea"/>
                <a:cs typeface="+mn-cs"/>
              </a:rPr>
              <a:t>SG-Prod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0" dirty="0" err="1">
                <a:solidFill>
                  <a:sysClr val="windowText" lastClr="000000"/>
                </a:solidFill>
                <a:latin typeface="Arial" panose="020B0604020202020204"/>
              </a:rPr>
              <a:t>Rdp</a:t>
            </a:r>
            <a:r>
              <a:rPr lang="en-US" sz="800" b="1" kern="0" dirty="0">
                <a:solidFill>
                  <a:sysClr val="windowText" lastClr="000000"/>
                </a:solidFill>
                <a:latin typeface="Arial" panose="020B0604020202020204"/>
              </a:rPr>
              <a:t>/ssh from sg-</a:t>
            </a:r>
            <a:r>
              <a:rPr lang="en-US" sz="800" b="1" kern="0" dirty="0" err="1">
                <a:solidFill>
                  <a:sysClr val="windowText" lastClr="000000"/>
                </a:solidFill>
                <a:latin typeface="Arial" panose="020B0604020202020204"/>
              </a:rPr>
              <a:t>jumpbox</a:t>
            </a:r>
            <a:endParaRPr kumimoji="0" lang="en-IN" sz="800" b="1" i="0" u="none" strike="noStrike" kern="0" cap="none" spc="0" normalizeH="0" baseline="0" noProof="0" dirty="0">
              <a:ln>
                <a:noFill/>
              </a:ln>
              <a:solidFill>
                <a:sysClr val="windowText" lastClr="000000"/>
              </a:solidFill>
              <a:effectLst/>
              <a:uLnTx/>
              <a:uFillTx/>
              <a:latin typeface="Arial" panose="020B0604020202020204"/>
              <a:ea typeface="+mn-ea"/>
              <a:cs typeface="+mn-cs"/>
            </a:endParaRPr>
          </a:p>
        </p:txBody>
      </p:sp>
      <p:sp>
        <p:nvSpPr>
          <p:cNvPr id="37" name="Rectangle 36">
            <a:extLst>
              <a:ext uri="{FF2B5EF4-FFF2-40B4-BE49-F238E27FC236}">
                <a16:creationId xmlns:a16="http://schemas.microsoft.com/office/drawing/2014/main" id="{9C308228-FCBB-5BBA-17C6-241F8211738D}"/>
              </a:ext>
            </a:extLst>
          </p:cNvPr>
          <p:cNvSpPr/>
          <p:nvPr/>
        </p:nvSpPr>
        <p:spPr>
          <a:xfrm rot="16200000">
            <a:off x="2257688" y="3148993"/>
            <a:ext cx="759204" cy="228003"/>
          </a:xfrm>
          <a:prstGeom prst="rect">
            <a:avLst/>
          </a:prstGeom>
          <a:solidFill>
            <a:sysClr val="window" lastClr="FFFFFF"/>
          </a:solidFill>
          <a:ln w="12700" cap="flat" cmpd="sng" algn="ctr">
            <a:solidFill>
              <a:srgbClr val="706051"/>
            </a:solid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ysClr val="windowText" lastClr="000000"/>
                </a:solidFill>
                <a:effectLst/>
                <a:uLnTx/>
                <a:uFillTx/>
                <a:latin typeface="Arial" panose="020B0604020202020204"/>
                <a:ea typeface="+mn-ea"/>
                <a:cs typeface="+mn-cs"/>
              </a:rPr>
              <a:t>TGW </a:t>
            </a:r>
            <a:endParaRPr kumimoji="0" lang="en-IN" sz="1000" b="1" i="0" u="none" strike="noStrike" kern="0" cap="none" spc="0" normalizeH="0" baseline="0" noProof="0" dirty="0">
              <a:ln>
                <a:noFill/>
              </a:ln>
              <a:solidFill>
                <a:sysClr val="windowText" lastClr="000000"/>
              </a:solidFill>
              <a:effectLst/>
              <a:uLnTx/>
              <a:uFillTx/>
              <a:latin typeface="Arial" panose="020B0604020202020204"/>
              <a:ea typeface="+mn-ea"/>
              <a:cs typeface="+mn-cs"/>
            </a:endParaRPr>
          </a:p>
        </p:txBody>
      </p:sp>
      <p:cxnSp>
        <p:nvCxnSpPr>
          <p:cNvPr id="40" name="Straight Arrow Connector 39">
            <a:extLst>
              <a:ext uri="{FF2B5EF4-FFF2-40B4-BE49-F238E27FC236}">
                <a16:creationId xmlns:a16="http://schemas.microsoft.com/office/drawing/2014/main" id="{644AB0C6-FB82-A1EA-6923-CED3F6202C70}"/>
              </a:ext>
            </a:extLst>
          </p:cNvPr>
          <p:cNvCxnSpPr>
            <a:cxnSpLocks/>
            <a:stCxn id="37" idx="0"/>
          </p:cNvCxnSpPr>
          <p:nvPr/>
        </p:nvCxnSpPr>
        <p:spPr>
          <a:xfrm flipH="1">
            <a:off x="1511753" y="3262995"/>
            <a:ext cx="1011536" cy="10580"/>
          </a:xfrm>
          <a:prstGeom prst="straightConnector1">
            <a:avLst/>
          </a:prstGeom>
          <a:noFill/>
          <a:ln w="38100" cap="flat" cmpd="sng" algn="ctr">
            <a:solidFill>
              <a:srgbClr val="B58D2B">
                <a:lumMod val="50000"/>
              </a:srgbClr>
            </a:solidFill>
            <a:prstDash val="solid"/>
            <a:miter lim="800000"/>
            <a:headEnd type="triangle"/>
            <a:tailEnd type="triangle"/>
          </a:ln>
          <a:effectLst/>
        </p:spPr>
      </p:cxnSp>
      <p:sp>
        <p:nvSpPr>
          <p:cNvPr id="46" name="Rectangle 45">
            <a:extLst>
              <a:ext uri="{FF2B5EF4-FFF2-40B4-BE49-F238E27FC236}">
                <a16:creationId xmlns:a16="http://schemas.microsoft.com/office/drawing/2014/main" id="{C49DD00D-1DED-B824-349E-4140B0D6022E}"/>
              </a:ext>
            </a:extLst>
          </p:cNvPr>
          <p:cNvSpPr/>
          <p:nvPr/>
        </p:nvSpPr>
        <p:spPr>
          <a:xfrm>
            <a:off x="1035583" y="2627536"/>
            <a:ext cx="456199" cy="1024726"/>
          </a:xfrm>
          <a:prstGeom prst="rect">
            <a:avLst/>
          </a:prstGeom>
          <a:solidFill>
            <a:sysClr val="window" lastClr="FFFFFF">
              <a:lumMod val="95000"/>
            </a:sysClr>
          </a:solidFill>
          <a:ln w="12700" cap="flat" cmpd="sng" algn="ctr">
            <a:solidFill>
              <a:srgbClr val="49494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effectLst/>
                <a:uLnTx/>
                <a:uFillTx/>
                <a:latin typeface="Arial" panose="020B0604020202020204"/>
                <a:ea typeface="+mn-ea"/>
                <a:cs typeface="+mn-cs"/>
              </a:rPr>
              <a:t>Fed firewall </a:t>
            </a:r>
            <a:endParaRPr kumimoji="0" lang="en-IN" sz="1200" b="0" i="0" u="none" strike="noStrike" kern="0" cap="none" spc="0" normalizeH="0" baseline="0" noProof="0" dirty="0">
              <a:ln>
                <a:noFill/>
              </a:ln>
              <a:effectLst/>
              <a:uLnTx/>
              <a:uFillTx/>
              <a:latin typeface="Arial" panose="020B0604020202020204"/>
              <a:ea typeface="+mn-ea"/>
              <a:cs typeface="+mn-cs"/>
            </a:endParaRPr>
          </a:p>
        </p:txBody>
      </p:sp>
      <p:sp>
        <p:nvSpPr>
          <p:cNvPr id="48" name="TextBox 47">
            <a:extLst>
              <a:ext uri="{FF2B5EF4-FFF2-40B4-BE49-F238E27FC236}">
                <a16:creationId xmlns:a16="http://schemas.microsoft.com/office/drawing/2014/main" id="{CB4D45C3-2893-665A-36E5-C795E754E096}"/>
              </a:ext>
            </a:extLst>
          </p:cNvPr>
          <p:cNvSpPr txBox="1"/>
          <p:nvPr/>
        </p:nvSpPr>
        <p:spPr>
          <a:xfrm>
            <a:off x="1470335" y="2973737"/>
            <a:ext cx="1096774" cy="215444"/>
          </a:xfrm>
          <a:prstGeom prst="rect">
            <a:avLst/>
          </a:prstGeom>
          <a:noFill/>
        </p:spPr>
        <p:txBody>
          <a:bodyPr wrap="none" rtlCol="0">
            <a:spAutoFit/>
          </a:bodyPr>
          <a:lstStyle/>
          <a:p>
            <a:pPr lvl="0" algn="ctr">
              <a:defRPr/>
            </a:pPr>
            <a:r>
              <a:rPr lang="en-US" sz="800" kern="0" dirty="0">
                <a:solidFill>
                  <a:sysClr val="windowText" lastClr="000000"/>
                </a:solidFill>
              </a:rPr>
              <a:t>S2S </a:t>
            </a:r>
            <a:r>
              <a:rPr lang="en-US" sz="800" kern="0" dirty="0" err="1">
                <a:solidFill>
                  <a:sysClr val="windowText" lastClr="000000"/>
                </a:solidFill>
              </a:rPr>
              <a:t>Ipsec</a:t>
            </a:r>
            <a:r>
              <a:rPr lang="en-US" sz="800" kern="0" dirty="0">
                <a:solidFill>
                  <a:sysClr val="windowText" lastClr="000000"/>
                </a:solidFill>
              </a:rPr>
              <a:t> Tunnel  </a:t>
            </a:r>
            <a:endParaRPr lang="en-IN" sz="800" kern="0" dirty="0">
              <a:solidFill>
                <a:sysClr val="windowText" lastClr="000000"/>
              </a:solidFill>
            </a:endParaRPr>
          </a:p>
        </p:txBody>
      </p:sp>
      <p:cxnSp>
        <p:nvCxnSpPr>
          <p:cNvPr id="54" name="Connector: Elbow 53">
            <a:extLst>
              <a:ext uri="{FF2B5EF4-FFF2-40B4-BE49-F238E27FC236}">
                <a16:creationId xmlns:a16="http://schemas.microsoft.com/office/drawing/2014/main" id="{C2A5367F-4527-FAA5-B1D3-1880E2EC1ABB}"/>
              </a:ext>
            </a:extLst>
          </p:cNvPr>
          <p:cNvCxnSpPr>
            <a:cxnSpLocks/>
            <a:stCxn id="13" idx="0"/>
          </p:cNvCxnSpPr>
          <p:nvPr/>
        </p:nvCxnSpPr>
        <p:spPr>
          <a:xfrm rot="10800000" flipV="1">
            <a:off x="2521169" y="2297321"/>
            <a:ext cx="271964" cy="61524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21ABA6D7-34F2-C391-2A8F-7E504580C3C5}"/>
              </a:ext>
            </a:extLst>
          </p:cNvPr>
          <p:cNvCxnSpPr>
            <a:cxnSpLocks/>
          </p:cNvCxnSpPr>
          <p:nvPr/>
        </p:nvCxnSpPr>
        <p:spPr>
          <a:xfrm rot="16200000" flipV="1">
            <a:off x="2102734" y="4054148"/>
            <a:ext cx="1117577" cy="257289"/>
          </a:xfrm>
          <a:prstGeom prst="bentConnector3">
            <a:avLst>
              <a:gd name="adj1" fmla="val -2274"/>
            </a:avLst>
          </a:prstGeom>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23591ABB-5AB5-CC86-A1D5-224378397EEF}"/>
              </a:ext>
            </a:extLst>
          </p:cNvPr>
          <p:cNvSpPr txBox="1"/>
          <p:nvPr/>
        </p:nvSpPr>
        <p:spPr>
          <a:xfrm>
            <a:off x="1170877" y="1906066"/>
            <a:ext cx="1418979" cy="215444"/>
          </a:xfrm>
          <a:prstGeom prst="rect">
            <a:avLst/>
          </a:prstGeom>
          <a:noFill/>
        </p:spPr>
        <p:txBody>
          <a:bodyPr wrap="none" rtlCol="0">
            <a:spAutoFit/>
          </a:bodyPr>
          <a:lstStyle/>
          <a:p>
            <a:pPr lvl="0" algn="ctr">
              <a:defRPr/>
            </a:pPr>
            <a:r>
              <a:rPr lang="en-US" sz="800" kern="0" dirty="0">
                <a:solidFill>
                  <a:sysClr val="windowText" lastClr="000000"/>
                </a:solidFill>
              </a:rPr>
              <a:t>Only specific URL Whitelist</a:t>
            </a:r>
            <a:endParaRPr lang="en-IN" sz="800" kern="0" dirty="0">
              <a:solidFill>
                <a:sysClr val="windowText" lastClr="000000"/>
              </a:solidFill>
            </a:endParaRPr>
          </a:p>
        </p:txBody>
      </p:sp>
      <p:cxnSp>
        <p:nvCxnSpPr>
          <p:cNvPr id="120" name="Straight Arrow Connector 119">
            <a:extLst>
              <a:ext uri="{FF2B5EF4-FFF2-40B4-BE49-F238E27FC236}">
                <a16:creationId xmlns:a16="http://schemas.microsoft.com/office/drawing/2014/main" id="{DAFC8554-0799-B0A5-148F-9CBAC26D9384}"/>
              </a:ext>
            </a:extLst>
          </p:cNvPr>
          <p:cNvCxnSpPr/>
          <p:nvPr/>
        </p:nvCxnSpPr>
        <p:spPr>
          <a:xfrm flipV="1">
            <a:off x="2017521" y="1344063"/>
            <a:ext cx="433579" cy="5464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063F4226-40FF-8ED0-E0F4-E93FA249DBE2}"/>
              </a:ext>
            </a:extLst>
          </p:cNvPr>
          <p:cNvSpPr/>
          <p:nvPr/>
        </p:nvSpPr>
        <p:spPr>
          <a:xfrm>
            <a:off x="3891796" y="4116377"/>
            <a:ext cx="1190981" cy="385327"/>
          </a:xfrm>
          <a:prstGeom prst="rect">
            <a:avLst/>
          </a:prstGeom>
          <a:noFill/>
          <a:ln w="12700"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B58D2B"/>
                </a:solidFill>
                <a:effectLst/>
                <a:uLnTx/>
                <a:uFillTx/>
                <a:latin typeface="Arial" panose="020B0604020202020204"/>
                <a:ea typeface="+mn-ea"/>
                <a:cs typeface="+mn-cs"/>
              </a:rPr>
              <a:t>App/ Web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B58D2B"/>
                </a:solidFill>
                <a:effectLst/>
                <a:uLnTx/>
                <a:uFillTx/>
                <a:latin typeface="Arial" panose="020B0604020202020204"/>
                <a:ea typeface="+mn-ea"/>
                <a:cs typeface="+mn-cs"/>
              </a:rPr>
              <a:t>Server</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800" b="1" kern="0" dirty="0">
                <a:solidFill>
                  <a:srgbClr val="B58D2B"/>
                </a:solidFill>
                <a:latin typeface="Arial" panose="020B0604020202020204"/>
              </a:rPr>
              <a:t>EC2 Instance(Linux)</a:t>
            </a:r>
          </a:p>
          <a:p>
            <a:pPr lvl="0" algn="ctr">
              <a:defRPr/>
            </a:pPr>
            <a:r>
              <a:rPr lang="en-IN" sz="800" dirty="0">
                <a:solidFill>
                  <a:srgbClr val="000000"/>
                </a:solidFill>
              </a:rPr>
              <a:t>Type:r7i.xlarge</a:t>
            </a:r>
            <a:endParaRPr lang="en-IN" sz="800" b="1" kern="0" dirty="0">
              <a:solidFill>
                <a:srgbClr val="B58D2B"/>
              </a:solidFill>
              <a:latin typeface="Arial" panose="020B0604020202020204"/>
            </a:endParaRPr>
          </a:p>
        </p:txBody>
      </p:sp>
      <p:sp>
        <p:nvSpPr>
          <p:cNvPr id="123" name="Rectangle 122">
            <a:extLst>
              <a:ext uri="{FF2B5EF4-FFF2-40B4-BE49-F238E27FC236}">
                <a16:creationId xmlns:a16="http://schemas.microsoft.com/office/drawing/2014/main" id="{C42859DD-5070-C901-C1A1-12B4B5150077}"/>
              </a:ext>
            </a:extLst>
          </p:cNvPr>
          <p:cNvSpPr/>
          <p:nvPr/>
        </p:nvSpPr>
        <p:spPr>
          <a:xfrm>
            <a:off x="6054438" y="4156677"/>
            <a:ext cx="1190981" cy="385327"/>
          </a:xfrm>
          <a:prstGeom prst="rect">
            <a:avLst/>
          </a:prstGeom>
          <a:noFill/>
          <a:ln w="12700"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B58D2B"/>
                </a:solidFill>
                <a:effectLst/>
                <a:uLnTx/>
                <a:uFillTx/>
                <a:latin typeface="Arial" panose="020B0604020202020204"/>
                <a:ea typeface="+mn-ea"/>
                <a:cs typeface="+mn-cs"/>
              </a:rPr>
              <a:t>DB server (MSSQL)</a:t>
            </a:r>
          </a:p>
          <a:p>
            <a:pPr algn="ctr">
              <a:defRPr/>
            </a:pPr>
            <a:r>
              <a:rPr lang="en-IN" sz="800" b="1" kern="0" dirty="0">
                <a:solidFill>
                  <a:srgbClr val="B58D2B"/>
                </a:solidFill>
              </a:rPr>
              <a:t>EC2 Instance(</a:t>
            </a:r>
            <a:r>
              <a:rPr lang="en-IN" sz="800" dirty="0">
                <a:solidFill>
                  <a:srgbClr val="000000"/>
                </a:solidFill>
              </a:rPr>
              <a:t>Windows</a:t>
            </a:r>
            <a:r>
              <a:rPr lang="en-IN" sz="800" b="1" kern="0" dirty="0">
                <a:solidFill>
                  <a:srgbClr val="B58D2B"/>
                </a:solidFill>
              </a:rPr>
              <a:t>)</a:t>
            </a:r>
            <a:r>
              <a:rPr lang="en-IN" sz="800" dirty="0">
                <a:solidFill>
                  <a:srgbClr val="000000"/>
                </a:solidFill>
              </a:rPr>
              <a:t> Type:- t3.xlarge</a:t>
            </a:r>
            <a:r>
              <a:rPr lang="en-IN" sz="800" b="1" kern="0" dirty="0">
                <a:solidFill>
                  <a:srgbClr val="B58D2B"/>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800" b="1" i="0" u="none" strike="noStrike" kern="0" cap="none" spc="0" normalizeH="0" baseline="0" noProof="0" dirty="0">
              <a:ln>
                <a:noFill/>
              </a:ln>
              <a:solidFill>
                <a:srgbClr val="B58D2B"/>
              </a:solidFill>
              <a:effectLst/>
              <a:uLnTx/>
              <a:uFillTx/>
              <a:latin typeface="Arial" panose="020B0604020202020204"/>
              <a:ea typeface="+mn-ea"/>
              <a:cs typeface="+mn-cs"/>
            </a:endParaRPr>
          </a:p>
        </p:txBody>
      </p:sp>
      <p:cxnSp>
        <p:nvCxnSpPr>
          <p:cNvPr id="128" name="Straight Arrow Connector 127">
            <a:extLst>
              <a:ext uri="{FF2B5EF4-FFF2-40B4-BE49-F238E27FC236}">
                <a16:creationId xmlns:a16="http://schemas.microsoft.com/office/drawing/2014/main" id="{54BBCA03-ADB5-1DA3-ECFD-1CB5E7C85D28}"/>
              </a:ext>
            </a:extLst>
          </p:cNvPr>
          <p:cNvCxnSpPr>
            <a:cxnSpLocks/>
            <a:stCxn id="46" idx="1"/>
            <a:endCxn id="60" idx="3"/>
          </p:cNvCxnSpPr>
          <p:nvPr/>
        </p:nvCxnSpPr>
        <p:spPr>
          <a:xfrm flipH="1" flipV="1">
            <a:off x="959468" y="3133981"/>
            <a:ext cx="76115" cy="5918"/>
          </a:xfrm>
          <a:prstGeom prst="straightConnector1">
            <a:avLst/>
          </a:prstGeom>
          <a:noFill/>
          <a:ln w="38100" cap="flat" cmpd="sng" algn="ctr">
            <a:solidFill>
              <a:srgbClr val="B58D2B">
                <a:lumMod val="50000"/>
              </a:srgbClr>
            </a:solidFill>
            <a:prstDash val="solid"/>
            <a:miter lim="800000"/>
            <a:headEnd type="triangle"/>
            <a:tailEnd type="triangle"/>
          </a:ln>
          <a:effectLst/>
        </p:spPr>
      </p:cxnSp>
      <p:cxnSp>
        <p:nvCxnSpPr>
          <p:cNvPr id="138" name="Straight Arrow Connector 137">
            <a:extLst>
              <a:ext uri="{FF2B5EF4-FFF2-40B4-BE49-F238E27FC236}">
                <a16:creationId xmlns:a16="http://schemas.microsoft.com/office/drawing/2014/main" id="{6C7CEE4D-4AC9-9571-0D5C-9BF7F3F8B7FF}"/>
              </a:ext>
            </a:extLst>
          </p:cNvPr>
          <p:cNvCxnSpPr/>
          <p:nvPr/>
        </p:nvCxnSpPr>
        <p:spPr>
          <a:xfrm>
            <a:off x="5329485" y="1769413"/>
            <a:ext cx="2455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56BE9C30-F399-E770-0FFE-F63D7A525D48}"/>
              </a:ext>
            </a:extLst>
          </p:cNvPr>
          <p:cNvCxnSpPr/>
          <p:nvPr/>
        </p:nvCxnSpPr>
        <p:spPr>
          <a:xfrm>
            <a:off x="5193855" y="3962400"/>
            <a:ext cx="3811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a16="http://schemas.microsoft.com/office/drawing/2014/main" id="{F868BFC2-D4FC-F5E5-4CA8-77D31EAB145B}"/>
              </a:ext>
            </a:extLst>
          </p:cNvPr>
          <p:cNvSpPr txBox="1"/>
          <p:nvPr/>
        </p:nvSpPr>
        <p:spPr>
          <a:xfrm>
            <a:off x="5276160" y="1529850"/>
            <a:ext cx="325730" cy="246221"/>
          </a:xfrm>
          <a:prstGeom prst="rect">
            <a:avLst/>
          </a:prstGeom>
          <a:noFill/>
        </p:spPr>
        <p:txBody>
          <a:bodyPr wrap="none" rtlCol="0">
            <a:spAutoFit/>
          </a:bodyPr>
          <a:lstStyle/>
          <a:p>
            <a:pPr lvl="0" algn="ctr">
              <a:defRPr/>
            </a:pPr>
            <a:r>
              <a:rPr lang="en-US" sz="500" kern="0" dirty="0">
                <a:solidFill>
                  <a:sysClr val="windowText" lastClr="000000"/>
                </a:solidFill>
              </a:rPr>
              <a:t>Port </a:t>
            </a:r>
          </a:p>
          <a:p>
            <a:pPr lvl="0" algn="ctr">
              <a:defRPr/>
            </a:pPr>
            <a:r>
              <a:rPr lang="en-US" sz="500" kern="0" dirty="0">
                <a:solidFill>
                  <a:sysClr val="windowText" lastClr="000000"/>
                </a:solidFill>
              </a:rPr>
              <a:t>1443</a:t>
            </a:r>
            <a:endParaRPr lang="en-IN" sz="500" kern="0" dirty="0">
              <a:solidFill>
                <a:sysClr val="windowText" lastClr="000000"/>
              </a:solidFill>
            </a:endParaRPr>
          </a:p>
        </p:txBody>
      </p:sp>
      <p:sp>
        <p:nvSpPr>
          <p:cNvPr id="142" name="TextBox 141">
            <a:extLst>
              <a:ext uri="{FF2B5EF4-FFF2-40B4-BE49-F238E27FC236}">
                <a16:creationId xmlns:a16="http://schemas.microsoft.com/office/drawing/2014/main" id="{B887D622-95F3-1535-2DF1-299680258F7E}"/>
              </a:ext>
            </a:extLst>
          </p:cNvPr>
          <p:cNvSpPr txBox="1"/>
          <p:nvPr/>
        </p:nvSpPr>
        <p:spPr>
          <a:xfrm>
            <a:off x="5195153" y="3716179"/>
            <a:ext cx="325730" cy="246221"/>
          </a:xfrm>
          <a:prstGeom prst="rect">
            <a:avLst/>
          </a:prstGeom>
          <a:noFill/>
        </p:spPr>
        <p:txBody>
          <a:bodyPr wrap="none" rtlCol="0">
            <a:spAutoFit/>
          </a:bodyPr>
          <a:lstStyle/>
          <a:p>
            <a:pPr lvl="0" algn="ctr">
              <a:defRPr/>
            </a:pPr>
            <a:r>
              <a:rPr lang="en-US" sz="500" kern="0" dirty="0">
                <a:solidFill>
                  <a:sysClr val="windowText" lastClr="000000"/>
                </a:solidFill>
              </a:rPr>
              <a:t>Port </a:t>
            </a:r>
          </a:p>
          <a:p>
            <a:pPr lvl="0" algn="ctr">
              <a:defRPr/>
            </a:pPr>
            <a:r>
              <a:rPr lang="en-US" sz="500" kern="0" dirty="0">
                <a:solidFill>
                  <a:sysClr val="windowText" lastClr="000000"/>
                </a:solidFill>
              </a:rPr>
              <a:t>1443</a:t>
            </a:r>
            <a:endParaRPr lang="en-IN" sz="500" kern="0" dirty="0">
              <a:solidFill>
                <a:sysClr val="windowText" lastClr="000000"/>
              </a:solidFill>
            </a:endParaRPr>
          </a:p>
        </p:txBody>
      </p:sp>
    </p:spTree>
    <p:extLst>
      <p:ext uri="{BB962C8B-B14F-4D97-AF65-F5344CB8AC3E}">
        <p14:creationId xmlns:p14="http://schemas.microsoft.com/office/powerpoint/2010/main" val="233627680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BD206EE-56B3-601D-DD64-950A3CDD8EF3}"/>
              </a:ext>
            </a:extLst>
          </p:cNvPr>
          <p:cNvGraphicFramePr>
            <a:graphicFrameLocks noGrp="1"/>
          </p:cNvGraphicFramePr>
          <p:nvPr/>
        </p:nvGraphicFramePr>
        <p:xfrm>
          <a:off x="389685" y="303818"/>
          <a:ext cx="8366394" cy="560593"/>
        </p:xfrm>
        <a:graphic>
          <a:graphicData uri="http://schemas.openxmlformats.org/drawingml/2006/table">
            <a:tbl>
              <a:tblPr firstRow="1" bandRow="1"/>
              <a:tblGrid>
                <a:gridCol w="8366394">
                  <a:extLst>
                    <a:ext uri="{9D8B030D-6E8A-4147-A177-3AD203B41FA5}">
                      <a16:colId xmlns:a16="http://schemas.microsoft.com/office/drawing/2014/main" val="20000"/>
                    </a:ext>
                  </a:extLst>
                </a:gridCol>
              </a:tblGrid>
              <a:tr h="560593">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l"/>
                      <a:r>
                        <a:rPr lang="en-US" sz="2000" b="0" i="0">
                          <a:solidFill>
                            <a:schemeClr val="tx1"/>
                          </a:solidFill>
                          <a:latin typeface="Arial" panose="020B0604020202020204" pitchFamily="34" charset="0"/>
                          <a:ea typeface="Verdana" panose="020B0604030504040204" pitchFamily="34" charset="0"/>
                          <a:cs typeface="Arial" panose="020B0604020202020204" pitchFamily="34" charset="0"/>
                        </a:rPr>
                        <a:t>Brief Technical architecture </a:t>
                      </a:r>
                    </a:p>
                  </a:txBody>
                  <a:tcPr marL="80666" marR="80666" marT="40333" marB="4033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3" name="Rectangle: Rounded Corners 2">
            <a:extLst>
              <a:ext uri="{FF2B5EF4-FFF2-40B4-BE49-F238E27FC236}">
                <a16:creationId xmlns:a16="http://schemas.microsoft.com/office/drawing/2014/main" id="{EBC59C97-BD07-E61C-2524-708BFF8A67C0}"/>
              </a:ext>
            </a:extLst>
          </p:cNvPr>
          <p:cNvSpPr/>
          <p:nvPr/>
        </p:nvSpPr>
        <p:spPr>
          <a:xfrm>
            <a:off x="566822" y="4986629"/>
            <a:ext cx="7959502" cy="343000"/>
          </a:xfrm>
          <a:prstGeom prst="roundRect">
            <a:avLst/>
          </a:prstGeom>
          <a:solidFill>
            <a:srgbClr val="B58D2B"/>
          </a:solidFill>
          <a:ln w="9525" cap="flat" cmpd="sng" algn="ctr">
            <a:solidFill>
              <a:srgbClr val="B58D2B"/>
            </a:solidFill>
            <a:prstDash val="solid"/>
          </a:ln>
          <a:effectLst/>
        </p:spPr>
        <p:txBody>
          <a:bodyPr lIns="0" tIns="0" rIns="0" bIns="0" rtlCol="0" anchor="ctr"/>
          <a:lstStyle/>
          <a:p>
            <a:pPr algn="ctr" defTabSz="914400">
              <a:defRPr/>
            </a:pPr>
            <a:r>
              <a:rPr lang="en-US" sz="1200" b="1" kern="0" dirty="0">
                <a:solidFill>
                  <a:schemeClr val="bg1"/>
                </a:solidFill>
                <a:latin typeface="Arial"/>
              </a:rPr>
              <a:t> MSSQL </a:t>
            </a:r>
            <a:r>
              <a:rPr lang="en-US" sz="1200" b="1" kern="0" dirty="0">
                <a:solidFill>
                  <a:prstClr val="white"/>
                </a:solidFill>
                <a:latin typeface="Arial"/>
              </a:rPr>
              <a:t>(Database)</a:t>
            </a:r>
          </a:p>
        </p:txBody>
      </p:sp>
      <p:sp>
        <p:nvSpPr>
          <p:cNvPr id="42" name="Rectangle 41">
            <a:extLst>
              <a:ext uri="{FF2B5EF4-FFF2-40B4-BE49-F238E27FC236}">
                <a16:creationId xmlns:a16="http://schemas.microsoft.com/office/drawing/2014/main" id="{C81E4645-21EE-B076-3D06-1DE94EA3236E}"/>
              </a:ext>
            </a:extLst>
          </p:cNvPr>
          <p:cNvSpPr/>
          <p:nvPr/>
        </p:nvSpPr>
        <p:spPr>
          <a:xfrm>
            <a:off x="424465" y="5781506"/>
            <a:ext cx="8329850" cy="360000"/>
          </a:xfrm>
          <a:prstGeom prst="rect">
            <a:avLst/>
          </a:prstGeom>
          <a:solidFill>
            <a:srgbClr val="706051"/>
          </a:solidFill>
          <a:ln w="19050" algn="ctr">
            <a:solidFill>
              <a:srgbClr val="706051"/>
            </a:solidFill>
            <a:miter lim="800000"/>
            <a:headEnd/>
            <a:tailEnd/>
          </a:ln>
        </p:spPr>
        <p:txBody>
          <a:bodyPr wrap="square" lIns="0" tIns="88900" rIns="0" bIns="88900" rtlCol="0" anchor="ct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rPr>
              <a:t>Source data layer (Data warehouse)</a:t>
            </a:r>
          </a:p>
        </p:txBody>
      </p:sp>
      <p:pic>
        <p:nvPicPr>
          <p:cNvPr id="43" name="Graphic 42" descr="Database">
            <a:extLst>
              <a:ext uri="{FF2B5EF4-FFF2-40B4-BE49-F238E27FC236}">
                <a16:creationId xmlns:a16="http://schemas.microsoft.com/office/drawing/2014/main" id="{2A25CBAE-0B86-2406-EA58-07B50EE8E3A0}"/>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6822" y="4978129"/>
            <a:ext cx="360000" cy="360000"/>
          </a:xfrm>
          <a:prstGeom prst="rect">
            <a:avLst/>
          </a:prstGeom>
        </p:spPr>
      </p:pic>
      <p:sp>
        <p:nvSpPr>
          <p:cNvPr id="44" name="Arrow: Up 43">
            <a:extLst>
              <a:ext uri="{FF2B5EF4-FFF2-40B4-BE49-F238E27FC236}">
                <a16:creationId xmlns:a16="http://schemas.microsoft.com/office/drawing/2014/main" id="{BA55CA52-EA90-36F6-88EF-F130A33040E7}"/>
              </a:ext>
            </a:extLst>
          </p:cNvPr>
          <p:cNvSpPr/>
          <p:nvPr/>
        </p:nvSpPr>
        <p:spPr bwMode="gray">
          <a:xfrm>
            <a:off x="2174761" y="5357801"/>
            <a:ext cx="317918" cy="353747"/>
          </a:xfrm>
          <a:prstGeom prst="upArrow">
            <a:avLst/>
          </a:prstGeom>
          <a:solidFill>
            <a:sysClr val="windowText" lastClr="000000">
              <a:lumMod val="65000"/>
              <a:lumOff val="3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ndParaRPr>
          </a:p>
        </p:txBody>
      </p:sp>
      <p:sp>
        <p:nvSpPr>
          <p:cNvPr id="45" name="Arrow: Up 44">
            <a:extLst>
              <a:ext uri="{FF2B5EF4-FFF2-40B4-BE49-F238E27FC236}">
                <a16:creationId xmlns:a16="http://schemas.microsoft.com/office/drawing/2014/main" id="{33BA6660-B829-C98A-D320-857E29CE1AAE}"/>
              </a:ext>
            </a:extLst>
          </p:cNvPr>
          <p:cNvSpPr/>
          <p:nvPr/>
        </p:nvSpPr>
        <p:spPr bwMode="gray">
          <a:xfrm rot="10800000">
            <a:off x="6810280" y="5357801"/>
            <a:ext cx="317918" cy="353747"/>
          </a:xfrm>
          <a:prstGeom prst="upArrow">
            <a:avLst/>
          </a:prstGeom>
          <a:solidFill>
            <a:sysClr val="windowText" lastClr="000000">
              <a:lumMod val="65000"/>
              <a:lumOff val="3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ndParaRPr>
          </a:p>
        </p:txBody>
      </p:sp>
      <p:sp>
        <p:nvSpPr>
          <p:cNvPr id="46" name="Arrow: Up-Down 45">
            <a:extLst>
              <a:ext uri="{FF2B5EF4-FFF2-40B4-BE49-F238E27FC236}">
                <a16:creationId xmlns:a16="http://schemas.microsoft.com/office/drawing/2014/main" id="{42DC8FC4-520C-46CB-9E49-C38BFF726E5F}"/>
              </a:ext>
            </a:extLst>
          </p:cNvPr>
          <p:cNvSpPr/>
          <p:nvPr/>
        </p:nvSpPr>
        <p:spPr bwMode="gray">
          <a:xfrm>
            <a:off x="2174761" y="4503614"/>
            <a:ext cx="317918" cy="438664"/>
          </a:xfrm>
          <a:prstGeom prst="upDownArrow">
            <a:avLst/>
          </a:prstGeom>
          <a:solidFill>
            <a:sysClr val="windowText" lastClr="000000">
              <a:lumMod val="65000"/>
              <a:lumOff val="3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ndParaRPr>
          </a:p>
        </p:txBody>
      </p:sp>
      <p:sp>
        <p:nvSpPr>
          <p:cNvPr id="47" name="Arrow: Up-Down 46">
            <a:extLst>
              <a:ext uri="{FF2B5EF4-FFF2-40B4-BE49-F238E27FC236}">
                <a16:creationId xmlns:a16="http://schemas.microsoft.com/office/drawing/2014/main" id="{5EEF82C9-CE52-73A7-EBA7-316B9617771D}"/>
              </a:ext>
            </a:extLst>
          </p:cNvPr>
          <p:cNvSpPr/>
          <p:nvPr/>
        </p:nvSpPr>
        <p:spPr bwMode="gray">
          <a:xfrm>
            <a:off x="6810280" y="4503614"/>
            <a:ext cx="317918" cy="438664"/>
          </a:xfrm>
          <a:prstGeom prst="upDownArrow">
            <a:avLst/>
          </a:prstGeom>
          <a:solidFill>
            <a:sysClr val="windowText" lastClr="000000">
              <a:lumMod val="65000"/>
              <a:lumOff val="3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ndParaRPr>
          </a:p>
        </p:txBody>
      </p:sp>
      <p:sp>
        <p:nvSpPr>
          <p:cNvPr id="48" name="Rectangle 47">
            <a:extLst>
              <a:ext uri="{FF2B5EF4-FFF2-40B4-BE49-F238E27FC236}">
                <a16:creationId xmlns:a16="http://schemas.microsoft.com/office/drawing/2014/main" id="{57C7914A-6D4C-7F87-02BF-F65D01C42159}"/>
              </a:ext>
            </a:extLst>
          </p:cNvPr>
          <p:cNvSpPr/>
          <p:nvPr/>
        </p:nvSpPr>
        <p:spPr>
          <a:xfrm>
            <a:off x="610513" y="1909630"/>
            <a:ext cx="7857333" cy="2346036"/>
          </a:xfrm>
          <a:prstGeom prst="rect">
            <a:avLst/>
          </a:prstGeom>
          <a:noFill/>
          <a:ln w="9525" cap="flat" cmpd="sng" algn="ctr">
            <a:solidFill>
              <a:srgbClr val="706051"/>
            </a:solidFill>
            <a:prstDash val="dash"/>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Arial"/>
            </a:endParaRPr>
          </a:p>
        </p:txBody>
      </p:sp>
      <p:sp>
        <p:nvSpPr>
          <p:cNvPr id="49" name="Rectangle 48">
            <a:extLst>
              <a:ext uri="{FF2B5EF4-FFF2-40B4-BE49-F238E27FC236}">
                <a16:creationId xmlns:a16="http://schemas.microsoft.com/office/drawing/2014/main" id="{2C484A34-E49F-8122-8E85-F569AD7C9930}"/>
              </a:ext>
            </a:extLst>
          </p:cNvPr>
          <p:cNvSpPr/>
          <p:nvPr/>
        </p:nvSpPr>
        <p:spPr>
          <a:xfrm>
            <a:off x="604273" y="4165087"/>
            <a:ext cx="7863573" cy="268569"/>
          </a:xfrm>
          <a:prstGeom prst="rect">
            <a:avLst/>
          </a:prstGeom>
          <a:solidFill>
            <a:srgbClr val="706051"/>
          </a:solidFill>
          <a:ln w="9525" cap="flat" cmpd="sng" algn="ctr">
            <a:solidFill>
              <a:srgbClr val="706051"/>
            </a:solid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white"/>
                </a:solidFill>
                <a:effectLst/>
                <a:uLnTx/>
                <a:uFillTx/>
                <a:latin typeface="Arial"/>
              </a:rPr>
              <a:t>Application environment</a:t>
            </a:r>
          </a:p>
        </p:txBody>
      </p:sp>
      <p:sp>
        <p:nvSpPr>
          <p:cNvPr id="50" name="Rectangle 49">
            <a:extLst>
              <a:ext uri="{FF2B5EF4-FFF2-40B4-BE49-F238E27FC236}">
                <a16:creationId xmlns:a16="http://schemas.microsoft.com/office/drawing/2014/main" id="{009B9744-19D9-32A9-DDC5-3B15688F474B}"/>
              </a:ext>
            </a:extLst>
          </p:cNvPr>
          <p:cNvSpPr/>
          <p:nvPr/>
        </p:nvSpPr>
        <p:spPr>
          <a:xfrm>
            <a:off x="664566" y="2950298"/>
            <a:ext cx="5804807" cy="268568"/>
          </a:xfrm>
          <a:prstGeom prst="rect">
            <a:avLst/>
          </a:prstGeom>
          <a:solidFill>
            <a:srgbClr val="B58D2B"/>
          </a:solidFill>
          <a:ln w="9525" cap="flat" cmpd="sng" algn="ctr">
            <a:solidFill>
              <a:srgbClr val="B58D2B"/>
            </a:solidFill>
            <a:prstDash val="solid"/>
          </a:ln>
          <a:effectLst/>
        </p:spPr>
        <p:txBody>
          <a:bodyPr lIns="0" tIns="0" rIns="0" bIns="0" rtlCol="0" anchor="ctr"/>
          <a:lstStyle/>
          <a:p>
            <a:pPr algn="ctr" defTabSz="914400"/>
            <a:r>
              <a:rPr lang="en-US" sz="1200" b="1" kern="0">
                <a:solidFill>
                  <a:prstClr val="white"/>
                </a:solidFill>
                <a:latin typeface="Arial"/>
              </a:rPr>
              <a:t>Report Generation </a:t>
            </a:r>
          </a:p>
        </p:txBody>
      </p:sp>
      <p:sp>
        <p:nvSpPr>
          <p:cNvPr id="51" name="Rectangle 50">
            <a:extLst>
              <a:ext uri="{FF2B5EF4-FFF2-40B4-BE49-F238E27FC236}">
                <a16:creationId xmlns:a16="http://schemas.microsoft.com/office/drawing/2014/main" id="{F75098A8-ACC4-8BF3-7061-670577313AB9}"/>
              </a:ext>
            </a:extLst>
          </p:cNvPr>
          <p:cNvSpPr/>
          <p:nvPr/>
        </p:nvSpPr>
        <p:spPr>
          <a:xfrm>
            <a:off x="1396457" y="3428786"/>
            <a:ext cx="5072916" cy="720001"/>
          </a:xfrm>
          <a:prstGeom prst="rect">
            <a:avLst/>
          </a:prstGeom>
          <a:noFill/>
          <a:ln w="9525" cap="flat" cmpd="sng" algn="ctr">
            <a:solidFill>
              <a:srgbClr val="B58D2B"/>
            </a:solidFill>
            <a:prstDash val="dash"/>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Arial"/>
            </a:endParaRPr>
          </a:p>
        </p:txBody>
      </p:sp>
      <p:sp>
        <p:nvSpPr>
          <p:cNvPr id="52" name="Rectangle 51">
            <a:extLst>
              <a:ext uri="{FF2B5EF4-FFF2-40B4-BE49-F238E27FC236}">
                <a16:creationId xmlns:a16="http://schemas.microsoft.com/office/drawing/2014/main" id="{5870F2C7-0914-7449-3C9F-A4DBEB8A9004}"/>
              </a:ext>
            </a:extLst>
          </p:cNvPr>
          <p:cNvSpPr/>
          <p:nvPr/>
        </p:nvSpPr>
        <p:spPr>
          <a:xfrm>
            <a:off x="1464842" y="3551376"/>
            <a:ext cx="4918292" cy="482934"/>
          </a:xfrm>
          <a:prstGeom prst="rect">
            <a:avLst/>
          </a:prstGeom>
          <a:solidFill>
            <a:sysClr val="window" lastClr="FFFFFF">
              <a:lumMod val="95000"/>
            </a:sysClr>
          </a:solidFill>
          <a:ln w="9525" cap="flat" cmpd="sng" algn="ctr">
            <a:solidFill>
              <a:sysClr val="window" lastClr="FFFFFF">
                <a:lumMod val="85000"/>
              </a:sysClr>
            </a:solidFill>
            <a:prstDash val="solid"/>
          </a:ln>
          <a:effectLst/>
        </p:spPr>
        <p:txBody>
          <a:bodyPr lIns="0" tIns="0" rIns="0" bIns="0" rtlCol="0" anchor="ctr"/>
          <a:lstStyle/>
          <a:p>
            <a:pPr algn="ctr">
              <a:lnSpc>
                <a:spcPct val="110000"/>
              </a:lnSpc>
            </a:pPr>
            <a:r>
              <a:rPr lang="en-US" sz="1100" i="1" kern="0">
                <a:solidFill>
                  <a:prstClr val="black"/>
                </a:solidFill>
                <a:latin typeface="Arial"/>
              </a:rPr>
              <a:t>Analysis engines</a:t>
            </a:r>
          </a:p>
        </p:txBody>
      </p:sp>
      <p:sp>
        <p:nvSpPr>
          <p:cNvPr id="53" name="Rectangle 52">
            <a:extLst>
              <a:ext uri="{FF2B5EF4-FFF2-40B4-BE49-F238E27FC236}">
                <a16:creationId xmlns:a16="http://schemas.microsoft.com/office/drawing/2014/main" id="{E6A99447-A820-D772-123A-B79363791C15}"/>
              </a:ext>
            </a:extLst>
          </p:cNvPr>
          <p:cNvSpPr/>
          <p:nvPr/>
        </p:nvSpPr>
        <p:spPr>
          <a:xfrm>
            <a:off x="664566" y="3428786"/>
            <a:ext cx="731891" cy="730853"/>
          </a:xfrm>
          <a:prstGeom prst="rect">
            <a:avLst/>
          </a:prstGeom>
          <a:solidFill>
            <a:srgbClr val="B58D2B">
              <a:lumMod val="20000"/>
              <a:lumOff val="80000"/>
            </a:srgbClr>
          </a:solidFill>
          <a:ln w="9525" cap="flat" cmpd="sng" algn="ctr">
            <a:solidFill>
              <a:srgbClr val="B58D2B"/>
            </a:solidFill>
            <a:prstDash val="solid"/>
          </a:ln>
          <a:effectLst/>
        </p:spPr>
        <p:txBody>
          <a:bodyPr lIns="0" tIns="0" rIns="0" bIns="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Arial"/>
              </a:rPr>
              <a:t>Core </a:t>
            </a:r>
          </a:p>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Arial"/>
              </a:rPr>
              <a:t>engines</a:t>
            </a:r>
          </a:p>
        </p:txBody>
      </p:sp>
      <p:sp>
        <p:nvSpPr>
          <p:cNvPr id="54" name="Rectangle 53">
            <a:extLst>
              <a:ext uri="{FF2B5EF4-FFF2-40B4-BE49-F238E27FC236}">
                <a16:creationId xmlns:a16="http://schemas.microsoft.com/office/drawing/2014/main" id="{217A64DE-D4B6-1BDC-FB93-ECA14F9ED796}"/>
              </a:ext>
            </a:extLst>
          </p:cNvPr>
          <p:cNvSpPr/>
          <p:nvPr/>
        </p:nvSpPr>
        <p:spPr>
          <a:xfrm>
            <a:off x="770374" y="2327916"/>
            <a:ext cx="2480130" cy="482934"/>
          </a:xfrm>
          <a:prstGeom prst="rect">
            <a:avLst/>
          </a:prstGeom>
          <a:solidFill>
            <a:sysClr val="window" lastClr="FFFFFF">
              <a:lumMod val="95000"/>
            </a:sysClr>
          </a:solidFill>
          <a:ln w="9525" cap="flat" cmpd="sng" algn="ctr">
            <a:solidFill>
              <a:sysClr val="window" lastClr="FFFFFF">
                <a:lumMod val="85000"/>
              </a:sysClr>
            </a:solidFill>
            <a:prstDash val="solid"/>
          </a:ln>
          <a:effectLst/>
        </p:spPr>
        <p:txBody>
          <a:bodyPr lIns="0" tIns="0" rIns="0" bIns="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Arial"/>
              </a:rPr>
              <a:t>Dashboards</a:t>
            </a:r>
          </a:p>
        </p:txBody>
      </p:sp>
      <p:sp>
        <p:nvSpPr>
          <p:cNvPr id="55" name="Rectangle 54">
            <a:extLst>
              <a:ext uri="{FF2B5EF4-FFF2-40B4-BE49-F238E27FC236}">
                <a16:creationId xmlns:a16="http://schemas.microsoft.com/office/drawing/2014/main" id="{6FD02420-3BA3-A1B8-434A-F587FAB7575F}"/>
              </a:ext>
            </a:extLst>
          </p:cNvPr>
          <p:cNvSpPr/>
          <p:nvPr/>
        </p:nvSpPr>
        <p:spPr>
          <a:xfrm>
            <a:off x="608546" y="1909630"/>
            <a:ext cx="7853059" cy="268569"/>
          </a:xfrm>
          <a:prstGeom prst="rect">
            <a:avLst/>
          </a:prstGeom>
          <a:solidFill>
            <a:srgbClr val="B58D2B"/>
          </a:solidFill>
          <a:ln w="9525" cap="flat" cmpd="sng" algn="ctr">
            <a:solidFill>
              <a:srgbClr val="B58D2B"/>
            </a:solidFill>
            <a:prstDash val="solid"/>
          </a:ln>
          <a:effectLst/>
        </p:spPr>
        <p:txBody>
          <a:bodyPr lIns="0" tIns="0" rIns="0" bIns="0" rtlCol="0" anchor="ctr"/>
          <a:lstStyle/>
          <a:p>
            <a:pPr algn="ctr" defTabSz="914400"/>
            <a:r>
              <a:rPr lang="en-US" sz="1200" b="1" kern="0">
                <a:solidFill>
                  <a:prstClr val="white"/>
                </a:solidFill>
                <a:latin typeface="Arial"/>
              </a:rPr>
              <a:t>Web based user interface</a:t>
            </a:r>
          </a:p>
        </p:txBody>
      </p:sp>
      <p:sp>
        <p:nvSpPr>
          <p:cNvPr id="56" name="Arrow: Up-Down 55">
            <a:extLst>
              <a:ext uri="{FF2B5EF4-FFF2-40B4-BE49-F238E27FC236}">
                <a16:creationId xmlns:a16="http://schemas.microsoft.com/office/drawing/2014/main" id="{668574CB-F0A8-E3B3-7314-F0E9C2652838}"/>
              </a:ext>
            </a:extLst>
          </p:cNvPr>
          <p:cNvSpPr/>
          <p:nvPr/>
        </p:nvSpPr>
        <p:spPr bwMode="gray">
          <a:xfrm rot="5400000">
            <a:off x="6689901" y="3305585"/>
            <a:ext cx="173351" cy="361974"/>
          </a:xfrm>
          <a:prstGeom prst="upDownArrow">
            <a:avLst/>
          </a:prstGeom>
          <a:solidFill>
            <a:sysClr val="windowText" lastClr="000000">
              <a:lumMod val="65000"/>
              <a:lumOff val="3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ndParaRPr>
          </a:p>
        </p:txBody>
      </p:sp>
      <p:sp>
        <p:nvSpPr>
          <p:cNvPr id="57" name="Arrow: Up-Down 56">
            <a:extLst>
              <a:ext uri="{FF2B5EF4-FFF2-40B4-BE49-F238E27FC236}">
                <a16:creationId xmlns:a16="http://schemas.microsoft.com/office/drawing/2014/main" id="{5AF3BC7A-4000-F9B8-8135-5E6E9D7C0EFA}"/>
              </a:ext>
            </a:extLst>
          </p:cNvPr>
          <p:cNvSpPr/>
          <p:nvPr/>
        </p:nvSpPr>
        <p:spPr bwMode="gray">
          <a:xfrm rot="5400000">
            <a:off x="6689900" y="2253870"/>
            <a:ext cx="173351" cy="361974"/>
          </a:xfrm>
          <a:prstGeom prst="upDownArrow">
            <a:avLst/>
          </a:prstGeom>
          <a:solidFill>
            <a:sysClr val="windowText" lastClr="000000">
              <a:lumMod val="65000"/>
              <a:lumOff val="3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ndParaRPr>
          </a:p>
        </p:txBody>
      </p:sp>
      <p:sp>
        <p:nvSpPr>
          <p:cNvPr id="58" name="Arrow: Up-Down 57">
            <a:extLst>
              <a:ext uri="{FF2B5EF4-FFF2-40B4-BE49-F238E27FC236}">
                <a16:creationId xmlns:a16="http://schemas.microsoft.com/office/drawing/2014/main" id="{35B996D8-6AF0-DE62-8FE0-8992CF6BC071}"/>
              </a:ext>
            </a:extLst>
          </p:cNvPr>
          <p:cNvSpPr/>
          <p:nvPr/>
        </p:nvSpPr>
        <p:spPr bwMode="gray">
          <a:xfrm rot="5400000">
            <a:off x="6681743" y="2789645"/>
            <a:ext cx="173351" cy="361974"/>
          </a:xfrm>
          <a:prstGeom prst="upDownArrow">
            <a:avLst/>
          </a:prstGeom>
          <a:solidFill>
            <a:sysClr val="windowText" lastClr="000000">
              <a:lumMod val="65000"/>
              <a:lumOff val="3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ndParaRPr>
          </a:p>
        </p:txBody>
      </p:sp>
      <p:grpSp>
        <p:nvGrpSpPr>
          <p:cNvPr id="59" name="Group 58">
            <a:extLst>
              <a:ext uri="{FF2B5EF4-FFF2-40B4-BE49-F238E27FC236}">
                <a16:creationId xmlns:a16="http://schemas.microsoft.com/office/drawing/2014/main" id="{CCF78A06-99F9-776C-2E5D-66558DAC2020}"/>
              </a:ext>
            </a:extLst>
          </p:cNvPr>
          <p:cNvGrpSpPr/>
          <p:nvPr/>
        </p:nvGrpSpPr>
        <p:grpSpPr>
          <a:xfrm>
            <a:off x="7161217" y="2396376"/>
            <a:ext cx="1172652" cy="1199417"/>
            <a:chOff x="7152417" y="2299648"/>
            <a:chExt cx="1172652" cy="1471334"/>
          </a:xfrm>
        </p:grpSpPr>
        <p:sp>
          <p:nvSpPr>
            <p:cNvPr id="60" name="Rectangle 59">
              <a:extLst>
                <a:ext uri="{FF2B5EF4-FFF2-40B4-BE49-F238E27FC236}">
                  <a16:creationId xmlns:a16="http://schemas.microsoft.com/office/drawing/2014/main" id="{4BB8A867-40D7-E8C6-CBA6-6141AD4C2165}"/>
                </a:ext>
              </a:extLst>
            </p:cNvPr>
            <p:cNvSpPr/>
            <p:nvPr/>
          </p:nvSpPr>
          <p:spPr bwMode="gray">
            <a:xfrm>
              <a:off x="7152417" y="2299648"/>
              <a:ext cx="1172652" cy="423065"/>
            </a:xfrm>
            <a:prstGeom prst="rect">
              <a:avLst/>
            </a:prstGeom>
            <a:solidFill>
              <a:srgbClr val="FFFFFF"/>
            </a:solidFill>
            <a:ln w="6350" algn="ctr">
              <a:solidFill>
                <a:sysClr val="windowText" lastClr="000000">
                  <a:lumMod val="50000"/>
                  <a:lumOff val="50000"/>
                </a:sysClr>
              </a:solidFill>
              <a:prstDash val="lgDash"/>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1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rPr>
                <a:t>Identity Access Mgmt.</a:t>
              </a:r>
            </a:p>
          </p:txBody>
        </p:sp>
        <p:sp>
          <p:nvSpPr>
            <p:cNvPr id="61" name="Rectangle 60">
              <a:extLst>
                <a:ext uri="{FF2B5EF4-FFF2-40B4-BE49-F238E27FC236}">
                  <a16:creationId xmlns:a16="http://schemas.microsoft.com/office/drawing/2014/main" id="{AEDCFABE-EAE7-3C1F-DC1C-1A7E4C47DBC5}"/>
                </a:ext>
              </a:extLst>
            </p:cNvPr>
            <p:cNvSpPr/>
            <p:nvPr/>
          </p:nvSpPr>
          <p:spPr bwMode="gray">
            <a:xfrm>
              <a:off x="7152417" y="2823782"/>
              <a:ext cx="1172652" cy="423065"/>
            </a:xfrm>
            <a:prstGeom prst="rect">
              <a:avLst/>
            </a:prstGeom>
            <a:solidFill>
              <a:srgbClr val="FFFFFF"/>
            </a:solidFill>
            <a:ln w="6350" algn="ctr">
              <a:solidFill>
                <a:sysClr val="windowText" lastClr="000000">
                  <a:lumMod val="50000"/>
                  <a:lumOff val="50000"/>
                </a:sysClr>
              </a:solidFill>
              <a:prstDash val="lgDash"/>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1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rPr>
                <a:t>Scheduler</a:t>
              </a:r>
            </a:p>
          </p:txBody>
        </p:sp>
        <p:sp>
          <p:nvSpPr>
            <p:cNvPr id="62" name="Rectangle 61">
              <a:extLst>
                <a:ext uri="{FF2B5EF4-FFF2-40B4-BE49-F238E27FC236}">
                  <a16:creationId xmlns:a16="http://schemas.microsoft.com/office/drawing/2014/main" id="{5B9F738E-8AF9-54CE-F2F3-11B802ECE405}"/>
                </a:ext>
              </a:extLst>
            </p:cNvPr>
            <p:cNvSpPr/>
            <p:nvPr/>
          </p:nvSpPr>
          <p:spPr bwMode="gray">
            <a:xfrm>
              <a:off x="7152417" y="3347917"/>
              <a:ext cx="1172652" cy="423065"/>
            </a:xfrm>
            <a:prstGeom prst="rect">
              <a:avLst/>
            </a:prstGeom>
            <a:solidFill>
              <a:srgbClr val="FFFFFF"/>
            </a:solidFill>
            <a:ln w="6350" algn="ctr">
              <a:solidFill>
                <a:sysClr val="windowText" lastClr="000000">
                  <a:lumMod val="50000"/>
                  <a:lumOff val="50000"/>
                </a:sysClr>
              </a:solidFill>
              <a:prstDash val="lgDash"/>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1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rPr>
                <a:t>Audit logging</a:t>
              </a:r>
            </a:p>
          </p:txBody>
        </p:sp>
      </p:grpSp>
      <p:sp>
        <p:nvSpPr>
          <p:cNvPr id="63" name="Rectangle 62">
            <a:extLst>
              <a:ext uri="{FF2B5EF4-FFF2-40B4-BE49-F238E27FC236}">
                <a16:creationId xmlns:a16="http://schemas.microsoft.com/office/drawing/2014/main" id="{5DFA8860-E8D0-931C-D198-DC7159581E73}"/>
              </a:ext>
            </a:extLst>
          </p:cNvPr>
          <p:cNvSpPr/>
          <p:nvPr/>
        </p:nvSpPr>
        <p:spPr>
          <a:xfrm>
            <a:off x="3773936" y="2327916"/>
            <a:ext cx="2480130" cy="482934"/>
          </a:xfrm>
          <a:prstGeom prst="rect">
            <a:avLst/>
          </a:prstGeom>
          <a:solidFill>
            <a:sysClr val="window" lastClr="FFFFFF">
              <a:lumMod val="95000"/>
            </a:sysClr>
          </a:solidFill>
          <a:ln w="9525" cap="flat" cmpd="sng" algn="ctr">
            <a:solidFill>
              <a:sysClr val="window" lastClr="FFFFFF">
                <a:lumMod val="85000"/>
              </a:sysClr>
            </a:solidFill>
            <a:prstDash val="solid"/>
          </a:ln>
          <a:effectLst/>
        </p:spPr>
        <p:txBody>
          <a:bodyPr lIns="0" tIns="0" rIns="0" bIns="0" rtlCol="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Arial"/>
              </a:rPr>
              <a:t>Reports</a:t>
            </a:r>
          </a:p>
        </p:txBody>
      </p:sp>
      <p:sp>
        <p:nvSpPr>
          <p:cNvPr id="64" name="Rectangle: Rounded Corners 63">
            <a:extLst>
              <a:ext uri="{FF2B5EF4-FFF2-40B4-BE49-F238E27FC236}">
                <a16:creationId xmlns:a16="http://schemas.microsoft.com/office/drawing/2014/main" id="{C4331018-B091-5BC1-12B8-695401FEE3BB}"/>
              </a:ext>
            </a:extLst>
          </p:cNvPr>
          <p:cNvSpPr/>
          <p:nvPr/>
        </p:nvSpPr>
        <p:spPr>
          <a:xfrm>
            <a:off x="556947" y="1155010"/>
            <a:ext cx="7959502" cy="343000"/>
          </a:xfrm>
          <a:prstGeom prst="roundRect">
            <a:avLst/>
          </a:prstGeom>
          <a:solidFill>
            <a:srgbClr val="B58D2B"/>
          </a:solidFill>
          <a:ln w="9525" cap="flat" cmpd="sng" algn="ctr">
            <a:solidFill>
              <a:srgbClr val="B58D2B"/>
            </a:solidFill>
            <a:prstDash val="solid"/>
          </a:ln>
          <a:effectLst/>
        </p:spPr>
        <p:txBody>
          <a:bodyPr lIns="0" tIns="0" rIns="0" bIns="0" rtlCol="0" anchor="ctr"/>
          <a:lstStyle/>
          <a:p>
            <a:pPr algn="ctr">
              <a:defRPr/>
            </a:pPr>
            <a:r>
              <a:rPr lang="en-US" sz="1200" b="1" kern="0">
                <a:solidFill>
                  <a:schemeClr val="bg1"/>
                </a:solidFill>
                <a:latin typeface="Arial"/>
              </a:rPr>
              <a:t>Visualization layer</a:t>
            </a:r>
          </a:p>
        </p:txBody>
      </p:sp>
      <p:sp>
        <p:nvSpPr>
          <p:cNvPr id="65" name="Arrow: Up 64">
            <a:extLst>
              <a:ext uri="{FF2B5EF4-FFF2-40B4-BE49-F238E27FC236}">
                <a16:creationId xmlns:a16="http://schemas.microsoft.com/office/drawing/2014/main" id="{7E1705B5-F794-F6E1-F2CB-F6F6BD3C8D1B}"/>
              </a:ext>
            </a:extLst>
          </p:cNvPr>
          <p:cNvSpPr/>
          <p:nvPr/>
        </p:nvSpPr>
        <p:spPr bwMode="gray">
          <a:xfrm>
            <a:off x="2164886" y="1526182"/>
            <a:ext cx="317918" cy="353747"/>
          </a:xfrm>
          <a:prstGeom prst="upArrow">
            <a:avLst/>
          </a:prstGeom>
          <a:solidFill>
            <a:sysClr val="windowText" lastClr="000000">
              <a:lumMod val="65000"/>
              <a:lumOff val="3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ndParaRPr>
          </a:p>
        </p:txBody>
      </p:sp>
      <p:sp>
        <p:nvSpPr>
          <p:cNvPr id="66" name="Arrow: Up 65">
            <a:extLst>
              <a:ext uri="{FF2B5EF4-FFF2-40B4-BE49-F238E27FC236}">
                <a16:creationId xmlns:a16="http://schemas.microsoft.com/office/drawing/2014/main" id="{EB4C7711-4757-1A3D-E1E5-91C143CD68E7}"/>
              </a:ext>
            </a:extLst>
          </p:cNvPr>
          <p:cNvSpPr/>
          <p:nvPr/>
        </p:nvSpPr>
        <p:spPr bwMode="gray">
          <a:xfrm>
            <a:off x="6800405" y="1526182"/>
            <a:ext cx="317918" cy="353747"/>
          </a:xfrm>
          <a:prstGeom prst="upArrow">
            <a:avLst/>
          </a:prstGeom>
          <a:solidFill>
            <a:sysClr val="windowText" lastClr="000000">
              <a:lumMod val="65000"/>
              <a:lumOff val="3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ndParaRPr>
          </a:p>
        </p:txBody>
      </p:sp>
      <p:sp>
        <p:nvSpPr>
          <p:cNvPr id="67" name="Oval 66">
            <a:extLst>
              <a:ext uri="{FF2B5EF4-FFF2-40B4-BE49-F238E27FC236}">
                <a16:creationId xmlns:a16="http://schemas.microsoft.com/office/drawing/2014/main" id="{16BA14E2-AE47-5FDE-A5CA-AB44081FB5C0}"/>
              </a:ext>
            </a:extLst>
          </p:cNvPr>
          <p:cNvSpPr/>
          <p:nvPr/>
        </p:nvSpPr>
        <p:spPr bwMode="gray">
          <a:xfrm>
            <a:off x="926822" y="5027765"/>
            <a:ext cx="247713" cy="247713"/>
          </a:xfrm>
          <a:prstGeom prst="ellipse">
            <a:avLst/>
          </a:prstGeom>
          <a:solidFill>
            <a:srgbClr val="F9F8E4">
              <a:lumMod val="90000"/>
            </a:srgbClr>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20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A</a:t>
            </a:r>
          </a:p>
        </p:txBody>
      </p:sp>
      <p:sp>
        <p:nvSpPr>
          <p:cNvPr id="68" name="Oval 67">
            <a:extLst>
              <a:ext uri="{FF2B5EF4-FFF2-40B4-BE49-F238E27FC236}">
                <a16:creationId xmlns:a16="http://schemas.microsoft.com/office/drawing/2014/main" id="{67F9FA77-29E7-0A19-C4A8-2DB4D757C28F}"/>
              </a:ext>
            </a:extLst>
          </p:cNvPr>
          <p:cNvSpPr/>
          <p:nvPr/>
        </p:nvSpPr>
        <p:spPr bwMode="gray">
          <a:xfrm>
            <a:off x="646517" y="4172791"/>
            <a:ext cx="247713" cy="247713"/>
          </a:xfrm>
          <a:prstGeom prst="ellipse">
            <a:avLst/>
          </a:prstGeom>
          <a:solidFill>
            <a:srgbClr val="F9F8E4">
              <a:lumMod val="90000"/>
            </a:srgbClr>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20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B</a:t>
            </a:r>
          </a:p>
        </p:txBody>
      </p:sp>
      <p:sp>
        <p:nvSpPr>
          <p:cNvPr id="69" name="Oval 68">
            <a:extLst>
              <a:ext uri="{FF2B5EF4-FFF2-40B4-BE49-F238E27FC236}">
                <a16:creationId xmlns:a16="http://schemas.microsoft.com/office/drawing/2014/main" id="{40E04460-9EFC-F3F4-435A-09A248C42E86}"/>
              </a:ext>
            </a:extLst>
          </p:cNvPr>
          <p:cNvSpPr/>
          <p:nvPr/>
        </p:nvSpPr>
        <p:spPr bwMode="gray">
          <a:xfrm>
            <a:off x="597936" y="1205363"/>
            <a:ext cx="247713" cy="247713"/>
          </a:xfrm>
          <a:prstGeom prst="ellipse">
            <a:avLst/>
          </a:prstGeom>
          <a:solidFill>
            <a:srgbClr val="F9F8E4">
              <a:lumMod val="90000"/>
            </a:srgbClr>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200" b="1"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C</a:t>
            </a:r>
          </a:p>
        </p:txBody>
      </p:sp>
      <p:sp>
        <p:nvSpPr>
          <p:cNvPr id="70" name="Rectangle 69">
            <a:extLst>
              <a:ext uri="{FF2B5EF4-FFF2-40B4-BE49-F238E27FC236}">
                <a16:creationId xmlns:a16="http://schemas.microsoft.com/office/drawing/2014/main" id="{29ED4661-86BF-E002-64F5-4F8A0E1CD7CD}"/>
              </a:ext>
            </a:extLst>
          </p:cNvPr>
          <p:cNvSpPr/>
          <p:nvPr/>
        </p:nvSpPr>
        <p:spPr bwMode="gray">
          <a:xfrm>
            <a:off x="2482804" y="5413668"/>
            <a:ext cx="4104627" cy="289322"/>
          </a:xfrm>
          <a:prstGeom prst="rect">
            <a:avLst/>
          </a:prstGeom>
          <a:noFill/>
          <a:ln w="19050" algn="ctr">
            <a:noFill/>
            <a:miter lim="800000"/>
            <a:headEnd/>
            <a:tailEnd/>
          </a:ln>
        </p:spPr>
        <p:txBody>
          <a:bodyPr wrap="square" lIns="36000" tIns="36000" rIns="36000" bIns="36000" rtlCol="0" anchor="ctr"/>
          <a:lstStyle/>
          <a:p>
            <a:pPr algn="ctr" defTabSz="914400">
              <a:lnSpc>
                <a:spcPct val="130000"/>
              </a:lnSpc>
              <a:spcBef>
                <a:spcPts val="200"/>
              </a:spcBef>
              <a:spcAft>
                <a:spcPts val="200"/>
              </a:spcAft>
              <a:buFont typeface="Wingdings 2" pitchFamily="18" charset="2"/>
              <a:buNone/>
            </a:pPr>
            <a:r>
              <a:rPr lang="en-US" sz="1000" b="1">
                <a:solidFill>
                  <a:prstClr val="black"/>
                </a:solidFill>
                <a:latin typeface="Arial" panose="020B0604020202020204" pitchFamily="34" charset="0"/>
                <a:cs typeface="Arial" panose="020B0604020202020204" pitchFamily="34" charset="0"/>
              </a:rPr>
              <a:t>Staging Area</a:t>
            </a:r>
          </a:p>
        </p:txBody>
      </p:sp>
      <p:sp>
        <p:nvSpPr>
          <p:cNvPr id="71" name="Rectangle 70">
            <a:extLst>
              <a:ext uri="{FF2B5EF4-FFF2-40B4-BE49-F238E27FC236}">
                <a16:creationId xmlns:a16="http://schemas.microsoft.com/office/drawing/2014/main" id="{63C66436-065A-07DD-D652-6ACD9C8194BA}"/>
              </a:ext>
            </a:extLst>
          </p:cNvPr>
          <p:cNvSpPr/>
          <p:nvPr/>
        </p:nvSpPr>
        <p:spPr bwMode="gray">
          <a:xfrm>
            <a:off x="7170017" y="3679833"/>
            <a:ext cx="1172652" cy="356392"/>
          </a:xfrm>
          <a:prstGeom prst="rect">
            <a:avLst/>
          </a:prstGeom>
          <a:solidFill>
            <a:srgbClr val="FFFFFF"/>
          </a:solidFill>
          <a:ln w="6350" algn="ctr">
            <a:solidFill>
              <a:sysClr val="windowText" lastClr="000000">
                <a:lumMod val="50000"/>
                <a:lumOff val="50000"/>
              </a:sysClr>
            </a:solidFill>
            <a:prstDash val="lgDash"/>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1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rPr>
              <a:t>Error Handling</a:t>
            </a:r>
          </a:p>
        </p:txBody>
      </p:sp>
      <p:sp>
        <p:nvSpPr>
          <p:cNvPr id="72" name="Arrow: Up-Down 71">
            <a:extLst>
              <a:ext uri="{FF2B5EF4-FFF2-40B4-BE49-F238E27FC236}">
                <a16:creationId xmlns:a16="http://schemas.microsoft.com/office/drawing/2014/main" id="{17753F8B-3C56-95E0-2C4B-EC358335098F}"/>
              </a:ext>
            </a:extLst>
          </p:cNvPr>
          <p:cNvSpPr/>
          <p:nvPr/>
        </p:nvSpPr>
        <p:spPr bwMode="gray">
          <a:xfrm rot="5400000">
            <a:off x="6689900" y="3804385"/>
            <a:ext cx="173351" cy="361974"/>
          </a:xfrm>
          <a:prstGeom prst="upDownArrow">
            <a:avLst/>
          </a:prstGeom>
          <a:solidFill>
            <a:sysClr val="windowText" lastClr="000000">
              <a:lumMod val="65000"/>
              <a:lumOff val="35000"/>
            </a:sys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endParaRPr>
          </a:p>
        </p:txBody>
      </p:sp>
    </p:spTree>
    <p:extLst>
      <p:ext uri="{BB962C8B-B14F-4D97-AF65-F5344CB8AC3E}">
        <p14:creationId xmlns:p14="http://schemas.microsoft.com/office/powerpoint/2010/main" val="33288046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D85F44C-FE30-4536-BC46-376FB80114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6"/>
          <p:cNvSpPr/>
          <p:nvPr/>
        </p:nvSpPr>
        <p:spPr>
          <a:xfrm>
            <a:off x="1" y="5443612"/>
            <a:ext cx="9144001" cy="1414388"/>
          </a:xfrm>
          <a:prstGeom prst="rect">
            <a:avLst/>
          </a:prstGeom>
          <a:solidFill>
            <a:schemeClr val="tx1">
              <a:alpha val="48000"/>
            </a:schemeClr>
          </a:solidFill>
        </p:spPr>
        <p:txBody>
          <a:bodyPr vert="horz" lIns="91440" tIns="45720" rIns="91440" bIns="45720" rtlCol="0" anchor="ctr">
            <a:normAutofit lnSpcReduction="10000"/>
          </a:bodyPr>
          <a:lstStyle/>
          <a:p>
            <a:pPr algn="just">
              <a:lnSpc>
                <a:spcPct val="150000"/>
              </a:lnSpc>
              <a:spcAft>
                <a:spcPts val="529"/>
              </a:spcAft>
            </a:pPr>
            <a:r>
              <a:rPr lang="en-US" sz="800">
                <a:solidFill>
                  <a:schemeClr val="bg1"/>
                </a:solidFill>
              </a:rPr>
              <a:t>This material has been prepared by Acies LLP (‘Acies’), on a specific request from you and contains proprietary and confidential information. This material may contain information sourced from publicly available information or other third party sources. Acies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lgn="just">
              <a:lnSpc>
                <a:spcPct val="150000"/>
              </a:lnSpc>
              <a:spcAft>
                <a:spcPts val="529"/>
              </a:spcAft>
            </a:pPr>
            <a:r>
              <a:rPr lang="en-US" sz="800">
                <a:solidFill>
                  <a:schemeClr val="bg1"/>
                </a:solidFill>
              </a:rPr>
              <a:t>Nothing in this material creates any contractual relationship between Acies and you. Any mutually binding legal obligations or rights may only be created between you and Acies upon execution of a legally binding contract. By using this material and any information contained in it, the user accepts this entire notice and terms of use.</a:t>
            </a:r>
          </a:p>
          <a:p>
            <a:pPr algn="just">
              <a:lnSpc>
                <a:spcPct val="150000"/>
              </a:lnSpc>
            </a:pPr>
            <a:r>
              <a:rPr lang="en-US" sz="800">
                <a:solidFill>
                  <a:schemeClr val="bg1"/>
                </a:solidFill>
              </a:rPr>
              <a:t>Copyright © 2025 Acies LLP All rights reserved</a:t>
            </a:r>
          </a:p>
        </p:txBody>
      </p:sp>
      <p:pic>
        <p:nvPicPr>
          <p:cNvPr id="5" name="Picture 4">
            <a:extLst>
              <a:ext uri="{FF2B5EF4-FFF2-40B4-BE49-F238E27FC236}">
                <a16:creationId xmlns:a16="http://schemas.microsoft.com/office/drawing/2014/main" id="{C52411EF-00DC-4D72-95BF-440811EAAF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169"/>
            <a:ext cx="2149200" cy="700872"/>
          </a:xfrm>
          <a:prstGeom prst="rect">
            <a:avLst/>
          </a:prstGeom>
        </p:spPr>
      </p:pic>
    </p:spTree>
    <p:extLst>
      <p:ext uri="{BB962C8B-B14F-4D97-AF65-F5344CB8AC3E}">
        <p14:creationId xmlns:p14="http://schemas.microsoft.com/office/powerpoint/2010/main" val="4248102770"/>
      </p:ext>
    </p:extLst>
  </p:cSld>
  <p:clrMapOvr>
    <a:masterClrMapping/>
  </p:clrMapOvr>
</p:sld>
</file>

<file path=ppt/theme/theme1.xml><?xml version="1.0" encoding="utf-8"?>
<a:theme xmlns:a="http://schemas.openxmlformats.org/drawingml/2006/main" name="Office Theme">
  <a:themeElements>
    <a:clrScheme name="Acies">
      <a:dk1>
        <a:sysClr val="windowText" lastClr="000000"/>
      </a:dk1>
      <a:lt1>
        <a:sysClr val="window" lastClr="FFFFFF"/>
      </a:lt1>
      <a:dk2>
        <a:srgbClr val="44546A"/>
      </a:dk2>
      <a:lt2>
        <a:srgbClr val="E7E6E6"/>
      </a:lt2>
      <a:accent1>
        <a:srgbClr val="494947"/>
      </a:accent1>
      <a:accent2>
        <a:srgbClr val="F5F5F5"/>
      </a:accent2>
      <a:accent3>
        <a:srgbClr val="F9F8E4"/>
      </a:accent3>
      <a:accent4>
        <a:srgbClr val="B58D2B"/>
      </a:accent4>
      <a:accent5>
        <a:srgbClr val="706051"/>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EBDE9C3E2D9D41843866D34ADFB792" ma:contentTypeVersion="14" ma:contentTypeDescription="Create a new document." ma:contentTypeScope="" ma:versionID="a1666e443cdcdc4813fe4fd595c26bde">
  <xsd:schema xmlns:xsd="http://www.w3.org/2001/XMLSchema" xmlns:xs="http://www.w3.org/2001/XMLSchema" xmlns:p="http://schemas.microsoft.com/office/2006/metadata/properties" xmlns:ns1="http://schemas.microsoft.com/sharepoint/v3" xmlns:ns2="6f62df74-2ab5-442c-a501-cc57363f1a7c" xmlns:ns3="83a0dec8-925a-4840-ac0a-a8c6c07fa83e" targetNamespace="http://schemas.microsoft.com/office/2006/metadata/properties" ma:root="true" ma:fieldsID="572c70736a9d5e1050354a56d612e227" ns1:_="" ns2:_="" ns3:_="">
    <xsd:import namespace="http://schemas.microsoft.com/sharepoint/v3"/>
    <xsd:import namespace="6f62df74-2ab5-442c-a501-cc57363f1a7c"/>
    <xsd:import namespace="83a0dec8-925a-4840-ac0a-a8c6c07fa83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f62df74-2ab5-442c-a501-cc57363f1a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56662d7-4af1-4f5c-b25c-c38f54a471c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a0dec8-925a-4840-ac0a-a8c6c07fa83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ebadfaf-97fc-40fe-aef2-23ff3a11b3ec}" ma:internalName="TaxCatchAll" ma:showField="CatchAllData" ma:web="83a0dec8-925a-4840-ac0a-a8c6c07fa8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f62df74-2ab5-442c-a501-cc57363f1a7c">
      <Terms xmlns="http://schemas.microsoft.com/office/infopath/2007/PartnerControls"/>
    </lcf76f155ced4ddcb4097134ff3c332f>
    <TaxCatchAll xmlns="83a0dec8-925a-4840-ac0a-a8c6c07fa83e"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9A5A2A75-CE99-4778-B9A9-342351CB4E52}">
  <ds:schemaRefs>
    <ds:schemaRef ds:uri="http://schemas.microsoft.com/sharepoint/v3/contenttype/forms"/>
  </ds:schemaRefs>
</ds:datastoreItem>
</file>

<file path=customXml/itemProps2.xml><?xml version="1.0" encoding="utf-8"?>
<ds:datastoreItem xmlns:ds="http://schemas.openxmlformats.org/officeDocument/2006/customXml" ds:itemID="{7764872D-3816-4657-88BA-E76765D89816}">
  <ds:schemaRefs>
    <ds:schemaRef ds:uri="6f62df74-2ab5-442c-a501-cc57363f1a7c"/>
    <ds:schemaRef ds:uri="83a0dec8-925a-4840-ac0a-a8c6c07fa8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F90D40A-45C1-40A1-9371-D7A709D71F51}">
  <ds:schemaRefs>
    <ds:schemaRef ds:uri="6f62df74-2ab5-442c-a501-cc57363f1a7c"/>
    <ds:schemaRef ds:uri="83a0dec8-925a-4840-ac0a-a8c6c07fa8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170</TotalTime>
  <Words>495</Words>
  <Application>Microsoft Office PowerPoint</Application>
  <PresentationFormat>On-screen Show (4:3)</PresentationFormat>
  <Paragraphs>70</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Wingdings 2</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Jagdish Patil</cp:lastModifiedBy>
  <cp:revision>38</cp:revision>
  <dcterms:created xsi:type="dcterms:W3CDTF">2017-08-31T11:01:37Z</dcterms:created>
  <dcterms:modified xsi:type="dcterms:W3CDTF">2025-11-19T13:30:01Z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0x010100D8EBDE9C3E2D9D41843866D34ADFB792</vt:lpwstr>
  </property>
  <property fmtid="{D5CDD505-2E9C-101B-9397-08002B2CF9AE}" pid="3" name="MediaServiceImageTags">
    <vt:lpwstr/>
  </property>
</Properties>
</file>